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6" r:id="rId17"/>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2" d="100"/>
          <a:sy n="72" d="100"/>
        </p:scale>
        <p:origin x="107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914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judges. Today we are presenting OpsBrain AI, a Unified Asset &amp; Operations Brain designed specifically to solve the critical knowledge fragmentation problem in heavy industrial plants. We built this platform to prevent industrial accidents and optimize complex maintenance operations.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understand why this is critical, let's look at the Vizag Steel Coke Oven Battery tragedy of January 2025. Eight lives were tragically lost because SCADA alerts, safety SOPs, and active maintenance work orders were locked in separate databases. Shift operators could not connect the dots in time. OpsBrain AI bridges this gap.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OpsBrain AI provides three core pillars: first, Real-Time Risk Fusion that merges telemetry and text; second, a Dynamic Graph Digital Twin showing asset topology; and third, an Autonomous Agent Core that runs specialized safety audits on demand. This replaces guesswork with deterministic insights.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system operates in four seamless steps: ingestion of drawings and safety manuals, extraction of components and text embeddings, building the digital twin graph, and running real-time agent diagnostics to feed the operator control room and prevent hazards before they occur.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see our ingestion pipeline. When an operator uploads a P&amp;ID blueprint, Gemini-2.5-Flash instantly digitizes the components, piping, and controllers, inserting them as nodes and edges. Simultaneously, safety SOPs are chunked and embedded using local BGE embeddings for real-time compliance checks.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Once the digital twin is built, our specialized agent fleet goes to work. The digital twin dashboard allows engineers to visualize node connections and trigger agents. These agents analyze real-time states and historical records to provide clear, actionable safety assessments via the chat interface.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OpsBrain AI is built for privacy and performance. We use a local BGE vector index, a PostgreSQL/SQLite database, and a FastAPI gateway. Our live telemetry monitor tracks provider status, request latencies, and fallback events to guarantee high availability in critical operations where downtime is not an option.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platform delivers real business value. By automating information retrieval, we reduce document search time by 35%. Fusing telemetry prevents unplanned outages, saving 18-22% in maintenance costs. Most importantly, it calculates compound risk in under 10 seconds, giving operators preemptive warnings.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live results from our agent execution. On the top row, the RCA agent diagnoses the frozen controller feedback, and the Risk agent calculates a compound hazard score. The bottom row shows compliance violations against CREP guidelines and lessons extracted from past failures.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OpsBrain AI is ready to bring heavy industrial safety into the AI era. Our codebase is verified, our models are running, and our integration is complete. We are now open for questions and would love to show you a live demonstration.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Oval 1"/>
          <p:cNvSpPr/>
          <p:nvPr/>
        </p:nvSpPr>
        <p:spPr>
          <a:xfrm>
            <a:off x="4114800" y="1371600"/>
            <a:ext cx="3962095" cy="3962095"/>
          </a:xfrm>
          <a:prstGeom prst="ellipse">
            <a:avLst/>
          </a:prstGeom>
          <a:solidFill>
            <a:srgbClr val="08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2743200"/>
          </a:xfrm>
          <a:prstGeom prst="rect">
            <a:avLst/>
          </a:prstGeom>
          <a:noFill/>
        </p:spPr>
        <p:txBody>
          <a:bodyPr wrap="square">
            <a:spAutoFit/>
          </a:bodyPr>
          <a:lstStyle/>
          <a:p>
            <a:pPr>
              <a:spcAft>
                <a:spcPts val="400"/>
              </a:spcAft>
              <a:defRPr sz="6400" b="1">
                <a:solidFill>
                  <a:srgbClr val="F1F5F9"/>
                </a:solidFill>
                <a:latin typeface="Segoe UI"/>
              </a:defRPr>
            </a:pPr>
            <a:r>
              <a:t>OPSBRAIN AI</a:t>
            </a:r>
          </a:p>
          <a:p>
            <a:pPr>
              <a:spcAft>
                <a:spcPts val="1200"/>
              </a:spcAft>
              <a:defRPr sz="2200" b="1">
                <a:solidFill>
                  <a:srgbClr val="06B6D4"/>
                </a:solidFill>
                <a:latin typeface="Segoe UI"/>
              </a:defRPr>
            </a:pPr>
            <a:r>
              <a:t>UNIFIED ASSET &amp; OPERATIONS BRAIN</a:t>
            </a:r>
          </a:p>
          <a:p>
            <a:pPr>
              <a:defRPr sz="1400">
                <a:solidFill>
                  <a:srgbClr val="94A3B8"/>
                </a:solidFill>
                <a:latin typeface="Segoe UI"/>
              </a:defRPr>
            </a:pPr>
            <a:r>
              <a:t>AI-Powered Safety Intelligence Platform for Zero-Harm Industrial Operations</a:t>
            </a:r>
            <a:br/>
            <a:r>
              <a:t>ET AI Hackathon 2026 | Problem Statement #8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THE HEAVY INDUSTRIAL KNOWLEDGE GAP</a:t>
            </a:r>
          </a:p>
          <a:p>
            <a:pPr>
              <a:spcAft>
                <a:spcPts val="1000"/>
              </a:spcAft>
              <a:defRPr sz="1400">
                <a:solidFill>
                  <a:srgbClr val="06B6D4"/>
                </a:solidFill>
                <a:latin typeface="Segoe UI"/>
              </a:defRPr>
            </a:pPr>
            <a:r>
              <a:t>Why Safety Systems Fail in Modern Plant Operations</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5486400" cy="4114800"/>
          </a:xfrm>
          <a:prstGeom prst="rect">
            <a:avLst/>
          </a:prstGeom>
          <a:noFill/>
        </p:spPr>
        <p:txBody>
          <a:bodyPr wrap="square">
            <a:spAutoFit/>
          </a:bodyPr>
          <a:lstStyle/>
          <a:p>
            <a:pPr>
              <a:spcAft>
                <a:spcPts val="1200"/>
              </a:spcAft>
              <a:defRPr sz="2000" b="1">
                <a:solidFill>
                  <a:srgbClr val="A855F7"/>
                </a:solidFill>
                <a:latin typeface="Segoe UI"/>
              </a:defRPr>
            </a:pPr>
            <a:r>
              <a:t>Critical Pain Points:</a:t>
            </a:r>
          </a:p>
          <a:p>
            <a:pPr>
              <a:spcAft>
                <a:spcPts val="1000"/>
              </a:spcAft>
              <a:defRPr sz="1300">
                <a:solidFill>
                  <a:srgbClr val="F1F5F9"/>
                </a:solidFill>
                <a:latin typeface="Segoe UI"/>
              </a:defRPr>
            </a:pPr>
            <a:r>
              <a:t>• Information Fragmentation: Plant documents (SOPs, P&amp;IDs, work orders, telemetry) sit in disconnected data silos.</a:t>
            </a:r>
          </a:p>
          <a:p>
            <a:pPr>
              <a:spcAft>
                <a:spcPts val="1000"/>
              </a:spcAft>
              <a:defRPr sz="1300">
                <a:solidFill>
                  <a:srgbClr val="F1F5F9"/>
                </a:solidFill>
                <a:latin typeface="Segoe UI"/>
              </a:defRPr>
            </a:pPr>
            <a:r>
              <a:t>• The Visakhapatnam Tragedy (Jan 2025): 8 lives lost in a coke oven battery explosion despite functioning SCADA sensors, because warning signals were never unified to inform active decisions.</a:t>
            </a:r>
          </a:p>
          <a:p>
            <a:pPr>
              <a:spcAft>
                <a:spcPts val="1000"/>
              </a:spcAft>
              <a:defRPr sz="1300">
                <a:solidFill>
                  <a:srgbClr val="F1F5F9"/>
                </a:solidFill>
                <a:latin typeface="Segoe UI"/>
              </a:defRPr>
            </a:pPr>
            <a:r>
              <a:t>• Operational Blindspots: Over 60% of large facilities rely on slow, manual handoffs to coordinate digital safety tools.</a:t>
            </a:r>
          </a:p>
          <a:p>
            <a:pPr>
              <a:spcAft>
                <a:spcPts val="1000"/>
              </a:spcAft>
              <a:defRPr sz="1300">
                <a:solidFill>
                  <a:srgbClr val="F1F5F9"/>
                </a:solidFill>
                <a:latin typeface="Segoe UI"/>
              </a:defRPr>
            </a:pPr>
            <a:r>
              <a:t>• The Knowledge Cliff: 25% of senior industrial operators are retiring, taking undocumented operational experience with them.</a:t>
            </a:r>
          </a:p>
        </p:txBody>
      </p:sp>
      <p:pic>
        <p:nvPicPr>
          <p:cNvPr id="5" name="Picture 4" descr="01_executive_dashboard.png"/>
          <p:cNvPicPr>
            <a:picLocks noChangeAspect="1"/>
          </p:cNvPicPr>
          <p:nvPr/>
        </p:nvPicPr>
        <p:blipFill>
          <a:blip r:embed="rId3"/>
          <a:stretch>
            <a:fillRect/>
          </a:stretch>
        </p:blipFill>
        <p:spPr>
          <a:xfrm>
            <a:off x="6400800" y="1828800"/>
            <a:ext cx="5303520" cy="3840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OPSBRAIN AI SOLUTION</a:t>
            </a:r>
          </a:p>
          <a:p>
            <a:pPr>
              <a:spcAft>
                <a:spcPts val="1000"/>
              </a:spcAft>
              <a:defRPr sz="1400">
                <a:solidFill>
                  <a:srgbClr val="06B6D4"/>
                </a:solidFill>
                <a:latin typeface="Segoe UI"/>
              </a:defRPr>
            </a:pPr>
            <a:r>
              <a:t>Fused Plant Intelligence &amp; Preemptive Safety Guardrails</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011680"/>
            <a:ext cx="3474720" cy="3840480"/>
          </a:xfrm>
          <a:prstGeom prst="roundRect">
            <a:avLst/>
          </a:prstGeom>
          <a:solidFill>
            <a:srgbClr val="1118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400"/>
              </a:spcAft>
              <a:defRPr sz="2000" b="1">
                <a:solidFill>
                  <a:srgbClr val="06B6D4"/>
                </a:solidFill>
                <a:latin typeface="Segoe UI"/>
              </a:defRPr>
            </a:pPr>
            <a:r>
              <a:t>Real-Time Risk Fusion</a:t>
            </a:r>
          </a:p>
          <a:p>
            <a:pPr>
              <a:spcAft>
                <a:spcPts val="1400"/>
              </a:spcAft>
              <a:defRPr sz="1300">
                <a:solidFill>
                  <a:srgbClr val="94A3B8"/>
                </a:solidFill>
                <a:latin typeface="Segoe UI"/>
              </a:defRPr>
            </a:pPr>
            <a:r>
              <a:t>Fuses sensor feeds, SCADA metrics, shift logs, and maintenance logs into a single analytical layer.</a:t>
            </a:r>
          </a:p>
          <a:p>
            <a:pPr>
              <a:spcAft>
                <a:spcPts val="600"/>
              </a:spcAft>
              <a:defRPr sz="1200">
                <a:solidFill>
                  <a:srgbClr val="F1F5F9"/>
                </a:solidFill>
                <a:latin typeface="Segoe UI"/>
              </a:defRPr>
            </a:pPr>
            <a:r>
              <a:t>• Multi-source telemetry</a:t>
            </a:r>
          </a:p>
          <a:p>
            <a:pPr>
              <a:spcAft>
                <a:spcPts val="600"/>
              </a:spcAft>
              <a:defRPr sz="1200">
                <a:solidFill>
                  <a:srgbClr val="F1F5F9"/>
                </a:solidFill>
                <a:latin typeface="Segoe UI"/>
              </a:defRPr>
            </a:pPr>
            <a:r>
              <a:t>• SOP semantic RAG search</a:t>
            </a:r>
          </a:p>
          <a:p>
            <a:pPr>
              <a:spcAft>
                <a:spcPts val="600"/>
              </a:spcAft>
              <a:defRPr sz="1200">
                <a:solidFill>
                  <a:srgbClr val="F1F5F9"/>
                </a:solidFill>
                <a:latin typeface="Segoe UI"/>
              </a:defRPr>
            </a:pPr>
            <a:r>
              <a:t>• Alert center feed</a:t>
            </a:r>
          </a:p>
        </p:txBody>
      </p:sp>
      <p:sp>
        <p:nvSpPr>
          <p:cNvPr id="5" name="Rounded Rectangle 4"/>
          <p:cNvSpPr/>
          <p:nvPr/>
        </p:nvSpPr>
        <p:spPr>
          <a:xfrm>
            <a:off x="4297680" y="2011680"/>
            <a:ext cx="3474720" cy="384048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400"/>
              </a:spcAft>
              <a:defRPr sz="2000" b="1">
                <a:solidFill>
                  <a:srgbClr val="A855F7"/>
                </a:solidFill>
                <a:latin typeface="Segoe UI"/>
              </a:defRPr>
            </a:pPr>
            <a:r>
              <a:t>Dynamic Graph digital twin</a:t>
            </a:r>
          </a:p>
          <a:p>
            <a:pPr>
              <a:spcAft>
                <a:spcPts val="1400"/>
              </a:spcAft>
              <a:defRPr sz="1300">
                <a:solidFill>
                  <a:srgbClr val="94A3B8"/>
                </a:solidFill>
                <a:latin typeface="Segoe UI"/>
              </a:defRPr>
            </a:pPr>
            <a:r>
              <a:t>Generates interactive topologies mapping physical assets, limits, and dependencies in real-time.</a:t>
            </a:r>
          </a:p>
          <a:p>
            <a:pPr>
              <a:spcAft>
                <a:spcPts val="600"/>
              </a:spcAft>
              <a:defRPr sz="1200">
                <a:solidFill>
                  <a:srgbClr val="F1F5F9"/>
                </a:solidFill>
                <a:latin typeface="Segoe UI"/>
              </a:defRPr>
            </a:pPr>
            <a:r>
              <a:t>• P&amp;ID computer vision parsing</a:t>
            </a:r>
          </a:p>
          <a:p>
            <a:pPr>
              <a:spcAft>
                <a:spcPts val="600"/>
              </a:spcAft>
              <a:defRPr sz="1200">
                <a:solidFill>
                  <a:srgbClr val="F1F5F9"/>
                </a:solidFill>
                <a:latin typeface="Segoe UI"/>
              </a:defRPr>
            </a:pPr>
            <a:r>
              <a:t>• ReactFlow graph visualizer</a:t>
            </a:r>
          </a:p>
          <a:p>
            <a:pPr>
              <a:spcAft>
                <a:spcPts val="600"/>
              </a:spcAft>
              <a:defRPr sz="1200">
                <a:solidFill>
                  <a:srgbClr val="F1F5F9"/>
                </a:solidFill>
                <a:latin typeface="Segoe UI"/>
              </a:defRPr>
            </a:pPr>
            <a:r>
              <a:t>• Cascading risk calculations</a:t>
            </a:r>
          </a:p>
        </p:txBody>
      </p:sp>
      <p:sp>
        <p:nvSpPr>
          <p:cNvPr id="6" name="Rounded Rectangle 5"/>
          <p:cNvSpPr/>
          <p:nvPr/>
        </p:nvSpPr>
        <p:spPr>
          <a:xfrm>
            <a:off x="8138160" y="2011680"/>
            <a:ext cx="3474720" cy="3840480"/>
          </a:xfrm>
          <a:prstGeom prst="roundRect">
            <a:avLst/>
          </a:prstGeom>
          <a:solidFill>
            <a:srgbClr val="111827"/>
          </a:solidFill>
          <a:ln w="19050">
            <a:solidFill>
              <a:srgbClr val="F1F5F9"/>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400"/>
              </a:spcAft>
              <a:defRPr sz="2000" b="1">
                <a:solidFill>
                  <a:srgbClr val="F1F5F9"/>
                </a:solidFill>
                <a:latin typeface="Segoe UI"/>
              </a:defRPr>
            </a:pPr>
            <a:r>
              <a:t>Autonomous Agent Core</a:t>
            </a:r>
          </a:p>
          <a:p>
            <a:pPr>
              <a:spcAft>
                <a:spcPts val="1400"/>
              </a:spcAft>
              <a:defRPr sz="1300">
                <a:solidFill>
                  <a:srgbClr val="94A3B8"/>
                </a:solidFill>
                <a:latin typeface="Segoe UI"/>
              </a:defRPr>
            </a:pPr>
            <a:r>
              <a:t>Orchestrates LLM agents for instant Root Cause Analysis, Risk Calculation, and Compliance Auditing.</a:t>
            </a:r>
          </a:p>
          <a:p>
            <a:pPr>
              <a:spcAft>
                <a:spcPts val="600"/>
              </a:spcAft>
              <a:defRPr sz="1200">
                <a:solidFill>
                  <a:srgbClr val="F1F5F9"/>
                </a:solidFill>
                <a:latin typeface="Segoe UI"/>
              </a:defRPr>
            </a:pPr>
            <a:r>
              <a:t>• Llama-3.3 diagnostics</a:t>
            </a:r>
          </a:p>
          <a:p>
            <a:pPr>
              <a:spcAft>
                <a:spcPts val="600"/>
              </a:spcAft>
              <a:defRPr sz="1200">
                <a:solidFill>
                  <a:srgbClr val="F1F5F9"/>
                </a:solidFill>
                <a:latin typeface="Segoe UI"/>
              </a:defRPr>
            </a:pPr>
            <a:r>
              <a:t>• OISD regulatory tracking</a:t>
            </a:r>
          </a:p>
          <a:p>
            <a:pPr>
              <a:spcAft>
                <a:spcPts val="600"/>
              </a:spcAft>
              <a:defRPr sz="1200">
                <a:solidFill>
                  <a:srgbClr val="F1F5F9"/>
                </a:solidFill>
                <a:latin typeface="Segoe UI"/>
              </a:defRPr>
            </a:pPr>
            <a:r>
              <a:t>• Failure intelligence lookup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SYSTEM OPERATIONAL WORKFLOW</a:t>
            </a:r>
          </a:p>
          <a:p>
            <a:pPr>
              <a:spcAft>
                <a:spcPts val="1000"/>
              </a:spcAft>
              <a:defRPr sz="1400">
                <a:solidFill>
                  <a:srgbClr val="06B6D4"/>
                </a:solidFill>
                <a:latin typeface="Segoe UI"/>
              </a:defRPr>
            </a:pPr>
            <a:r>
              <a:t>Fusing Data, Models, and Human Intervention seamlessly</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011680"/>
            <a:ext cx="2560320" cy="29260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1000"/>
              </a:spcAft>
              <a:defRPr sz="1600" b="1">
                <a:solidFill>
                  <a:srgbClr val="06B6D4"/>
                </a:solidFill>
                <a:latin typeface="Segoe UI"/>
              </a:defRPr>
            </a:pPr>
            <a:r>
              <a:t>1. Ingestion</a:t>
            </a:r>
          </a:p>
          <a:p>
            <a:pPr>
              <a:defRPr sz="1200">
                <a:solidFill>
                  <a:srgbClr val="F1F5F9"/>
                </a:solidFill>
                <a:latin typeface="Segoe UI"/>
              </a:defRPr>
            </a:pPr>
            <a:r>
              <a:t>Upload drawings (P&amp;IDs) &amp; SOP documents.</a:t>
            </a:r>
          </a:p>
        </p:txBody>
      </p:sp>
      <p:sp>
        <p:nvSpPr>
          <p:cNvPr id="5" name="Right Arrow 4"/>
          <p:cNvSpPr/>
          <p:nvPr/>
        </p:nvSpPr>
        <p:spPr>
          <a:xfrm>
            <a:off x="3063240" y="3200400"/>
            <a:ext cx="182880" cy="274320"/>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91840" y="2011680"/>
            <a:ext cx="2560320" cy="29260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1000"/>
              </a:spcAft>
              <a:defRPr sz="1600" b="1">
                <a:solidFill>
                  <a:srgbClr val="06B6D4"/>
                </a:solidFill>
                <a:latin typeface="Segoe UI"/>
              </a:defRPr>
            </a:pPr>
            <a:r>
              <a:t>2. Extraction</a:t>
            </a:r>
          </a:p>
          <a:p>
            <a:pPr>
              <a:defRPr sz="1200">
                <a:solidFill>
                  <a:srgbClr val="F1F5F9"/>
                </a:solidFill>
                <a:latin typeface="Segoe UI"/>
              </a:defRPr>
            </a:pPr>
            <a:r>
              <a:t>Gemini parses blueprint components &amp; BGE embeds text.</a:t>
            </a:r>
          </a:p>
        </p:txBody>
      </p:sp>
      <p:sp>
        <p:nvSpPr>
          <p:cNvPr id="7" name="Right Arrow 6"/>
          <p:cNvSpPr/>
          <p:nvPr/>
        </p:nvSpPr>
        <p:spPr>
          <a:xfrm>
            <a:off x="5897880" y="3200400"/>
            <a:ext cx="182880" cy="274320"/>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26480" y="2011680"/>
            <a:ext cx="2560320" cy="29260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1000"/>
              </a:spcAft>
              <a:defRPr sz="1600" b="1">
                <a:solidFill>
                  <a:srgbClr val="A855F7"/>
                </a:solidFill>
                <a:latin typeface="Segoe UI"/>
              </a:defRPr>
            </a:pPr>
            <a:r>
              <a:t>3. Digital Twin</a:t>
            </a:r>
          </a:p>
          <a:p>
            <a:pPr>
              <a:defRPr sz="1200">
                <a:solidFill>
                  <a:srgbClr val="F1F5F9"/>
                </a:solidFill>
                <a:latin typeface="Segoe UI"/>
              </a:defRPr>
            </a:pPr>
            <a:r>
              <a:t>Graph relationships stored in Supabase DB.</a:t>
            </a:r>
          </a:p>
        </p:txBody>
      </p:sp>
      <p:sp>
        <p:nvSpPr>
          <p:cNvPr id="9" name="Right Arrow 8"/>
          <p:cNvSpPr/>
          <p:nvPr/>
        </p:nvSpPr>
        <p:spPr>
          <a:xfrm>
            <a:off x="8732520" y="3200400"/>
            <a:ext cx="182880" cy="274320"/>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961120" y="2011680"/>
            <a:ext cx="2560320" cy="29260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1000"/>
              </a:spcAft>
              <a:defRPr sz="1600" b="1">
                <a:solidFill>
                  <a:srgbClr val="A855F7"/>
                </a:solidFill>
                <a:latin typeface="Segoe UI"/>
              </a:defRPr>
            </a:pPr>
            <a:r>
              <a:t>4. Execution</a:t>
            </a:r>
          </a:p>
          <a:p>
            <a:pPr>
              <a:defRPr sz="1200">
                <a:solidFill>
                  <a:srgbClr val="F1F5F9"/>
                </a:solidFill>
                <a:latin typeface="Segoe UI"/>
              </a:defRPr>
            </a:pPr>
            <a:r>
              <a:t>Agents calculate risk, RCA, and emit alerts.</a:t>
            </a:r>
          </a:p>
        </p:txBody>
      </p:sp>
      <p:sp>
        <p:nvSpPr>
          <p:cNvPr id="11" name="TextBox 10"/>
          <p:cNvSpPr txBox="1"/>
          <p:nvPr/>
        </p:nvSpPr>
        <p:spPr>
          <a:xfrm>
            <a:off x="457200" y="5486400"/>
            <a:ext cx="11277295" cy="731520"/>
          </a:xfrm>
          <a:prstGeom prst="rect">
            <a:avLst/>
          </a:prstGeom>
          <a:noFill/>
        </p:spPr>
        <p:txBody>
          <a:bodyPr wrap="none">
            <a:spAutoFit/>
          </a:bodyPr>
          <a:lstStyle/>
          <a:p>
            <a:pPr>
              <a:defRPr sz="1400" i="1">
                <a:solidFill>
                  <a:srgbClr val="94A3B8"/>
                </a:solidFill>
                <a:latin typeface="Segoe UI"/>
              </a:defRPr>
            </a:pPr>
            <a:r>
              <a:t>Result: Provides shift operators and safety supervisors with a unified cockpit, removing manual handoffs.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P&amp;ID VISION TO GRAPH DIGITIZATION</a:t>
            </a:r>
          </a:p>
          <a:p>
            <a:pPr>
              <a:spcAft>
                <a:spcPts val="1000"/>
              </a:spcAft>
              <a:defRPr sz="1400">
                <a:solidFill>
                  <a:srgbClr val="06B6D4"/>
                </a:solidFill>
                <a:latin typeface="Segoe UI"/>
              </a:defRPr>
            </a:pPr>
            <a:r>
              <a:t>Automating Asset Topology Parsing via Gemini-2.5-Flash</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5029200" cy="4114800"/>
          </a:xfrm>
          <a:prstGeom prst="rect">
            <a:avLst/>
          </a:prstGeom>
          <a:noFill/>
        </p:spPr>
        <p:txBody>
          <a:bodyPr wrap="square">
            <a:spAutoFit/>
          </a:bodyPr>
          <a:lstStyle/>
          <a:p>
            <a:pPr>
              <a:spcAft>
                <a:spcPts val="1000"/>
              </a:spcAft>
              <a:defRPr sz="1800" b="1">
                <a:solidFill>
                  <a:srgbClr val="06B6D4"/>
                </a:solidFill>
                <a:latin typeface="Segoe UI"/>
              </a:defRPr>
            </a:pPr>
            <a:r>
              <a:t>Key Pipeline Mechanics:</a:t>
            </a:r>
          </a:p>
          <a:p>
            <a:pPr>
              <a:spcAft>
                <a:spcPts val="800"/>
              </a:spcAft>
              <a:defRPr sz="1200">
                <a:solidFill>
                  <a:srgbClr val="F1F5F9"/>
                </a:solidFill>
                <a:latin typeface="Segoe UI"/>
              </a:defRPr>
            </a:pPr>
            <a:r>
              <a:t>• Zero-Config Blueprint Ingestion: Operators upload standard P&amp;ID images directly into the system.</a:t>
            </a:r>
          </a:p>
          <a:p>
            <a:pPr>
              <a:spcAft>
                <a:spcPts val="800"/>
              </a:spcAft>
              <a:defRPr sz="1200">
                <a:solidFill>
                  <a:srgbClr val="F1F5F9"/>
                </a:solidFill>
                <a:latin typeface="Segoe UI"/>
              </a:defRPr>
            </a:pPr>
            <a:r>
              <a:t>• Computer Vision Mapping: Gemini Vision Service analyzes component symbols (Vessels, Valves, Controllers) and flow directions.</a:t>
            </a:r>
          </a:p>
          <a:p>
            <a:pPr>
              <a:spcAft>
                <a:spcPts val="800"/>
              </a:spcAft>
              <a:defRPr sz="1200">
                <a:solidFill>
                  <a:srgbClr val="F1F5F9"/>
                </a:solidFill>
                <a:latin typeface="Segoe UI"/>
              </a:defRPr>
            </a:pPr>
            <a:r>
              <a:t>• Graph Construction: Automatically inserts assets, nodes, and relational edges (FLOWS_TO, MEASURES) into SQL/Supabase.</a:t>
            </a:r>
          </a:p>
          <a:p>
            <a:pPr>
              <a:spcAft>
                <a:spcPts val="800"/>
              </a:spcAft>
              <a:defRPr sz="1200">
                <a:solidFill>
                  <a:srgbClr val="F1F5F9"/>
                </a:solidFill>
                <a:latin typeface="Segoe UI"/>
              </a:defRPr>
            </a:pPr>
            <a:r>
              <a:t>• Local Vector Search (RAG): Chunks safety SOPs and indexing using local BGE embeddings (384 Dimensions) for real-time compliance matching.</a:t>
            </a:r>
          </a:p>
        </p:txBody>
      </p:sp>
      <p:pic>
        <p:nvPicPr>
          <p:cNvPr id="5" name="Picture 4" descr="02_pid_parser.png"/>
          <p:cNvPicPr>
            <a:picLocks noChangeAspect="1"/>
          </p:cNvPicPr>
          <p:nvPr/>
        </p:nvPicPr>
        <p:blipFill>
          <a:blip r:embed="rId3"/>
          <a:srcRect l="19933" r="18050" b="27590"/>
          <a:stretch>
            <a:fillRect/>
          </a:stretch>
        </p:blipFill>
        <p:spPr>
          <a:xfrm>
            <a:off x="5672092" y="1445623"/>
            <a:ext cx="5553146" cy="2264228"/>
          </a:xfrm>
          <a:prstGeom prst="rect">
            <a:avLst/>
          </a:prstGeom>
        </p:spPr>
      </p:pic>
      <p:pic>
        <p:nvPicPr>
          <p:cNvPr id="6" name="Picture 5" descr="03_document_ingestion.png"/>
          <p:cNvPicPr>
            <a:picLocks noChangeAspect="1"/>
          </p:cNvPicPr>
          <p:nvPr/>
        </p:nvPicPr>
        <p:blipFill>
          <a:blip r:embed="rId4"/>
          <a:srcRect l="20181" r="19350"/>
          <a:stretch>
            <a:fillRect/>
          </a:stretch>
        </p:blipFill>
        <p:spPr>
          <a:xfrm>
            <a:off x="5560424" y="4023360"/>
            <a:ext cx="5664814" cy="26561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THE SPECIALIZED AGENT CORE</a:t>
            </a:r>
          </a:p>
          <a:p>
            <a:pPr>
              <a:spcAft>
                <a:spcPts val="1000"/>
              </a:spcAft>
              <a:defRPr sz="1400">
                <a:solidFill>
                  <a:srgbClr val="06B6D4"/>
                </a:solidFill>
                <a:latin typeface="Segoe UI"/>
              </a:defRPr>
            </a:pPr>
            <a:r>
              <a:t>Four Coordinated AI Agents Operating on the Digital Twin</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737360"/>
            <a:ext cx="5486400" cy="1005840"/>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200"/>
              </a:spcAft>
              <a:defRPr sz="1400" b="1">
                <a:solidFill>
                  <a:srgbClr val="06B6D4"/>
                </a:solidFill>
                <a:latin typeface="Segoe UI"/>
              </a:defRPr>
            </a:pPr>
            <a:r>
              <a:t>Root Cause Analysis (RCA) Agent</a:t>
            </a:r>
          </a:p>
          <a:p>
            <a:pPr>
              <a:defRPr sz="1100">
                <a:solidFill>
                  <a:srgbClr val="F1F5F9"/>
                </a:solidFill>
                <a:latin typeface="Segoe UI"/>
              </a:defRPr>
            </a:pPr>
            <a:r>
              <a:t>Fuses work orders, maintenance history, and incident texts via Llama-3.3 to diagnose active anomalies.</a:t>
            </a:r>
          </a:p>
        </p:txBody>
      </p:sp>
      <p:sp>
        <p:nvSpPr>
          <p:cNvPr id="5" name="Rounded Rectangle 4"/>
          <p:cNvSpPr/>
          <p:nvPr/>
        </p:nvSpPr>
        <p:spPr>
          <a:xfrm>
            <a:off x="457200" y="2926080"/>
            <a:ext cx="5486400" cy="1005840"/>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200"/>
              </a:spcAft>
              <a:defRPr sz="1400" b="1">
                <a:solidFill>
                  <a:srgbClr val="06B6D4"/>
                </a:solidFill>
                <a:latin typeface="Segoe UI"/>
              </a:defRPr>
            </a:pPr>
            <a:r>
              <a:t>Dynamic Risk Calculation Agent</a:t>
            </a:r>
          </a:p>
          <a:p>
            <a:pPr>
              <a:defRPr sz="1100">
                <a:solidFill>
                  <a:srgbClr val="F1F5F9"/>
                </a:solidFill>
                <a:latin typeface="Segoe UI"/>
              </a:defRPr>
            </a:pPr>
            <a:r>
              <a:t>Computes a mathematical hazard score (0-100) based on active alerts, compliance failure, and graph neighbor stress.</a:t>
            </a:r>
          </a:p>
        </p:txBody>
      </p:sp>
      <p:sp>
        <p:nvSpPr>
          <p:cNvPr id="6" name="Rounded Rectangle 5"/>
          <p:cNvSpPr/>
          <p:nvPr/>
        </p:nvSpPr>
        <p:spPr>
          <a:xfrm>
            <a:off x="457200" y="4114800"/>
            <a:ext cx="5486400" cy="1005840"/>
          </a:xfrm>
          <a:prstGeom prst="roundRect">
            <a:avLst/>
          </a:prstGeom>
          <a:solidFill>
            <a:srgbClr val="111827"/>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200"/>
              </a:spcAft>
              <a:defRPr sz="1400" b="1">
                <a:solidFill>
                  <a:srgbClr val="A855F7"/>
                </a:solidFill>
                <a:latin typeface="Segoe UI"/>
              </a:defRPr>
            </a:pPr>
            <a:r>
              <a:t>Regulatory Compliance Agent</a:t>
            </a:r>
          </a:p>
          <a:p>
            <a:pPr>
              <a:defRPr sz="1100">
                <a:solidFill>
                  <a:srgbClr val="F1F5F9"/>
                </a:solidFill>
                <a:latin typeface="Segoe UI"/>
              </a:defRPr>
            </a:pPr>
            <a:r>
              <a:t>Continuously audits plant operations against OISD standards, CREP guidelines, and the Factory Act.</a:t>
            </a:r>
          </a:p>
        </p:txBody>
      </p:sp>
      <p:sp>
        <p:nvSpPr>
          <p:cNvPr id="7" name="Rounded Rectangle 6"/>
          <p:cNvSpPr/>
          <p:nvPr/>
        </p:nvSpPr>
        <p:spPr>
          <a:xfrm>
            <a:off x="457200" y="5303520"/>
            <a:ext cx="5486400" cy="1005840"/>
          </a:xfrm>
          <a:prstGeom prst="roundRect">
            <a:avLst/>
          </a:prstGeom>
          <a:solidFill>
            <a:srgbClr val="111827"/>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200"/>
              </a:spcAft>
              <a:defRPr sz="1400" b="1">
                <a:solidFill>
                  <a:srgbClr val="A855F7"/>
                </a:solidFill>
                <a:latin typeface="Segoe UI"/>
              </a:defRPr>
            </a:pPr>
            <a:r>
              <a:t>Lessons Learned Failure Engine</a:t>
            </a:r>
          </a:p>
          <a:p>
            <a:pPr>
              <a:defRPr sz="1100">
                <a:solidFill>
                  <a:srgbClr val="F1F5F9"/>
                </a:solidFill>
                <a:latin typeface="Segoe UI"/>
              </a:defRPr>
            </a:pPr>
            <a:r>
              <a:t>Scans local and industry failure logs to proactively push preventative safety alerts to operators.</a:t>
            </a:r>
          </a:p>
        </p:txBody>
      </p:sp>
      <p:pic>
        <p:nvPicPr>
          <p:cNvPr id="9" name="Picture 8" descr="05_knowledge_copilot.png"/>
          <p:cNvPicPr>
            <a:picLocks noChangeAspect="1"/>
          </p:cNvPicPr>
          <p:nvPr/>
        </p:nvPicPr>
        <p:blipFill>
          <a:blip r:embed="rId3"/>
          <a:stretch>
            <a:fillRect/>
          </a:stretch>
        </p:blipFill>
        <p:spPr>
          <a:xfrm>
            <a:off x="6400800" y="4023360"/>
            <a:ext cx="5303520" cy="2011680"/>
          </a:xfrm>
          <a:prstGeom prst="rect">
            <a:avLst/>
          </a:prstGeom>
        </p:spPr>
      </p:pic>
      <p:pic>
        <p:nvPicPr>
          <p:cNvPr id="10" name="Picture 9">
            <a:extLst>
              <a:ext uri="{FF2B5EF4-FFF2-40B4-BE49-F238E27FC236}">
                <a16:creationId xmlns:a16="http://schemas.microsoft.com/office/drawing/2014/main" id="{31256577-E949-AE42-0E04-07A408E22B17}"/>
              </a:ext>
            </a:extLst>
          </p:cNvPr>
          <p:cNvPicPr>
            <a:picLocks noChangeAspect="1"/>
          </p:cNvPicPr>
          <p:nvPr/>
        </p:nvPicPr>
        <p:blipFill>
          <a:blip r:embed="rId4"/>
          <a:stretch>
            <a:fillRect/>
          </a:stretch>
        </p:blipFill>
        <p:spPr>
          <a:xfrm>
            <a:off x="6400800" y="1463040"/>
            <a:ext cx="5303520" cy="20116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SYSTEM ARCHITECTURE &amp; TELEMETRY</a:t>
            </a:r>
          </a:p>
          <a:p>
            <a:pPr>
              <a:spcAft>
                <a:spcPts val="1000"/>
              </a:spcAft>
              <a:defRPr sz="1400">
                <a:solidFill>
                  <a:srgbClr val="06B6D4"/>
                </a:solidFill>
                <a:latin typeface="Segoe UI"/>
              </a:defRPr>
            </a:pPr>
            <a:r>
              <a:t>Low-Latency, Privacy-Preserving Industrial Integration</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5303520" cy="4114800"/>
          </a:xfrm>
          <a:prstGeom prst="rect">
            <a:avLst/>
          </a:prstGeom>
          <a:noFill/>
        </p:spPr>
        <p:txBody>
          <a:bodyPr wrap="square">
            <a:spAutoFit/>
          </a:bodyPr>
          <a:lstStyle/>
          <a:p>
            <a:pPr>
              <a:spcAft>
                <a:spcPts val="1000"/>
              </a:spcAft>
              <a:defRPr sz="1800" b="1">
                <a:solidFill>
                  <a:srgbClr val="06B6D4"/>
                </a:solidFill>
                <a:latin typeface="Segoe UI"/>
              </a:defRPr>
            </a:pPr>
            <a:r>
              <a:t>Data &amp; Model Pipeline:</a:t>
            </a:r>
          </a:p>
          <a:p>
            <a:pPr>
              <a:spcAft>
                <a:spcPts val="800"/>
              </a:spcAft>
              <a:defRPr sz="1200">
                <a:solidFill>
                  <a:srgbClr val="F1F5F9"/>
                </a:solidFill>
                <a:latin typeface="Segoe UI"/>
              </a:defRPr>
            </a:pPr>
            <a:r>
              <a:t>• FastAPI Gateway: Lightweight REST API + Capability-Aware AI Provider Router (Groq -&gt; Mistral -&gt; Gemini -&gt; seeded demo fallback) with circuit-breaker protection.</a:t>
            </a:r>
          </a:p>
          <a:p>
            <a:pPr>
              <a:spcAft>
                <a:spcPts val="800"/>
              </a:spcAft>
              <a:defRPr sz="1200">
                <a:solidFill>
                  <a:srgbClr val="F1F5F9"/>
                </a:solidFill>
                <a:latin typeface="Segoe UI"/>
              </a:defRPr>
            </a:pPr>
            <a:r>
              <a:t>• Local Vector Search: Ingests documents, chunks them, and generates 384-dimensional embeddings locally via BAAI/bge-small-en-v1.5.</a:t>
            </a:r>
          </a:p>
          <a:p>
            <a:pPr>
              <a:spcAft>
                <a:spcPts val="800"/>
              </a:spcAft>
              <a:defRPr sz="1200">
                <a:solidFill>
                  <a:srgbClr val="F1F5F9"/>
                </a:solidFill>
                <a:latin typeface="Segoe UI"/>
              </a:defRPr>
            </a:pPr>
            <a:r>
              <a:t>• Dual Storage Strategy: PostgreSQL (Supabase) for vector indexing, SQLite for asset data, topology nodes, and incident history.</a:t>
            </a:r>
          </a:p>
          <a:p>
            <a:pPr>
              <a:spcAft>
                <a:spcPts val="800"/>
              </a:spcAft>
              <a:defRPr sz="1200">
                <a:solidFill>
                  <a:srgbClr val="F1F5F9"/>
                </a:solidFill>
                <a:latin typeface="Segoe UI"/>
              </a:defRPr>
            </a:pPr>
            <a:r>
              <a:t>• Foundation Models: Groq Llama-3.3-70b-versatile (RCA/Risk), Gemini-2.5-Flash (P&amp;ID parsing), and Mistral (RAG output generation).</a:t>
            </a:r>
          </a:p>
        </p:txBody>
      </p:sp>
      <p:pic>
        <p:nvPicPr>
          <p:cNvPr id="5" name="Picture 4" descr="10_ai_runtime_monitor.png"/>
          <p:cNvPicPr>
            <a:picLocks noChangeAspect="1"/>
          </p:cNvPicPr>
          <p:nvPr/>
        </p:nvPicPr>
        <p:blipFill>
          <a:blip r:embed="rId3"/>
          <a:stretch>
            <a:fillRect/>
          </a:stretch>
        </p:blipFill>
        <p:spPr>
          <a:xfrm>
            <a:off x="6217920" y="1828800"/>
            <a:ext cx="5486400" cy="38404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INDUSTRIAL EFFICIENCY &amp; SAFETY ROI</a:t>
            </a:r>
          </a:p>
          <a:p>
            <a:pPr>
              <a:spcAft>
                <a:spcPts val="1000"/>
              </a:spcAft>
              <a:defRPr sz="1400">
                <a:solidFill>
                  <a:srgbClr val="06B6D4"/>
                </a:solidFill>
                <a:latin typeface="Segoe UI"/>
              </a:defRPr>
            </a:pPr>
            <a:r>
              <a:t>Tangible Business Value &amp; Life-Saving Prevention</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011680"/>
            <a:ext cx="3474720" cy="3474720"/>
          </a:xfrm>
          <a:prstGeom prst="roundRect">
            <a:avLst/>
          </a:prstGeom>
          <a:solidFill>
            <a:srgbClr val="1118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200"/>
              </a:spcAft>
              <a:defRPr sz="4800" b="1">
                <a:solidFill>
                  <a:srgbClr val="06B6D4"/>
                </a:solidFill>
                <a:latin typeface="Segoe UI"/>
              </a:defRPr>
            </a:pPr>
            <a:r>
              <a:t>35%</a:t>
            </a:r>
          </a:p>
          <a:p>
            <a:pPr>
              <a:spcAft>
                <a:spcPts val="1000"/>
              </a:spcAft>
              <a:defRPr sz="1400" b="1">
                <a:solidFill>
                  <a:srgbClr val="F1F5F9"/>
                </a:solidFill>
                <a:latin typeface="Segoe UI"/>
              </a:defRPr>
            </a:pPr>
            <a:r>
              <a:t>TIME SEARCH REDUCTION</a:t>
            </a:r>
          </a:p>
          <a:p>
            <a:pPr>
              <a:defRPr sz="1200">
                <a:solidFill>
                  <a:srgbClr val="94A3B8"/>
                </a:solidFill>
                <a:latin typeface="Segoe UI"/>
              </a:defRPr>
            </a:pPr>
            <a:r>
              <a:t>Decreases the McKinsey-cited time engineers spend looking for documentation, SOPs, and drawing logs.</a:t>
            </a:r>
          </a:p>
        </p:txBody>
      </p:sp>
      <p:sp>
        <p:nvSpPr>
          <p:cNvPr id="5" name="Rounded Rectangle 4"/>
          <p:cNvSpPr/>
          <p:nvPr/>
        </p:nvSpPr>
        <p:spPr>
          <a:xfrm>
            <a:off x="4297680" y="2011680"/>
            <a:ext cx="3474720" cy="347472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200"/>
              </a:spcAft>
              <a:defRPr sz="4800" b="1">
                <a:solidFill>
                  <a:srgbClr val="A855F7"/>
                </a:solidFill>
                <a:latin typeface="Segoe UI"/>
              </a:defRPr>
            </a:pPr>
            <a:r>
              <a:t>18-22%</a:t>
            </a:r>
          </a:p>
          <a:p>
            <a:pPr>
              <a:spcAft>
                <a:spcPts val="1000"/>
              </a:spcAft>
              <a:defRPr sz="1400" b="1">
                <a:solidFill>
                  <a:srgbClr val="F1F5F9"/>
                </a:solidFill>
                <a:latin typeface="Segoe UI"/>
              </a:defRPr>
            </a:pPr>
            <a:r>
              <a:t>DOWNTIME PREVENTED</a:t>
            </a:r>
          </a:p>
          <a:p>
            <a:pPr>
              <a:defRPr sz="1200">
                <a:solidFill>
                  <a:srgbClr val="94A3B8"/>
                </a:solidFill>
                <a:latin typeface="Segoe UI"/>
              </a:defRPr>
            </a:pPr>
            <a:r>
              <a:t>Fuses equipment history and active warnings, mitigating unplanned outages caused by missing information.</a:t>
            </a:r>
          </a:p>
        </p:txBody>
      </p:sp>
      <p:sp>
        <p:nvSpPr>
          <p:cNvPr id="6" name="Rounded Rectangle 5"/>
          <p:cNvSpPr/>
          <p:nvPr/>
        </p:nvSpPr>
        <p:spPr>
          <a:xfrm>
            <a:off x="8138160" y="2011680"/>
            <a:ext cx="3474720" cy="3474720"/>
          </a:xfrm>
          <a:prstGeom prst="roundRect">
            <a:avLst/>
          </a:prstGeom>
          <a:solidFill>
            <a:srgbClr val="1118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200"/>
              </a:spcAft>
              <a:defRPr sz="4800" b="1">
                <a:solidFill>
                  <a:srgbClr val="06B6D4"/>
                </a:solidFill>
                <a:latin typeface="Segoe UI"/>
              </a:defRPr>
            </a:pPr>
            <a:r>
              <a:t>&lt; 10s</a:t>
            </a:r>
          </a:p>
          <a:p>
            <a:pPr>
              <a:spcAft>
                <a:spcPts val="1000"/>
              </a:spcAft>
              <a:defRPr sz="1400" b="1">
                <a:solidFill>
                  <a:srgbClr val="F1F5F9"/>
                </a:solidFill>
                <a:latin typeface="Segoe UI"/>
              </a:defRPr>
            </a:pPr>
            <a:r>
              <a:t>PREEMPTIVE LEAD TIME</a:t>
            </a:r>
          </a:p>
          <a:p>
            <a:pPr>
              <a:defRPr sz="1200">
                <a:solidFill>
                  <a:srgbClr val="94A3B8"/>
                </a:solidFill>
                <a:latin typeface="Segoe UI"/>
              </a:defRPr>
            </a:pPr>
            <a:r>
              <a:t>Triggers compound risk alerts in seconds rather than waiting for manual supervisor shifts.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OPSBRAIN AI IN ACTION</a:t>
            </a:r>
          </a:p>
          <a:p>
            <a:pPr>
              <a:spcAft>
                <a:spcPts val="1000"/>
              </a:spcAft>
              <a:defRPr sz="1400">
                <a:solidFill>
                  <a:srgbClr val="06B6D4"/>
                </a:solidFill>
                <a:latin typeface="Segoe UI"/>
              </a:defRPr>
            </a:pPr>
            <a:r>
              <a:t>Direct telemetry screenshots from our running system</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6_rca_result.png"/>
          <p:cNvPicPr>
            <a:picLocks noChangeAspect="1"/>
          </p:cNvPicPr>
          <p:nvPr/>
        </p:nvPicPr>
        <p:blipFill>
          <a:blip r:embed="rId3"/>
          <a:stretch>
            <a:fillRect/>
          </a:stretch>
        </p:blipFill>
        <p:spPr>
          <a:xfrm>
            <a:off x="457200" y="1645920"/>
            <a:ext cx="5486400" cy="2194560"/>
          </a:xfrm>
          <a:prstGeom prst="rect">
            <a:avLst/>
          </a:prstGeom>
        </p:spPr>
      </p:pic>
      <p:pic>
        <p:nvPicPr>
          <p:cNvPr id="5" name="Picture 4" descr="07_risk_result.png"/>
          <p:cNvPicPr>
            <a:picLocks noChangeAspect="1"/>
          </p:cNvPicPr>
          <p:nvPr/>
        </p:nvPicPr>
        <p:blipFill>
          <a:blip r:embed="rId4"/>
          <a:stretch>
            <a:fillRect/>
          </a:stretch>
        </p:blipFill>
        <p:spPr>
          <a:xfrm>
            <a:off x="6217920" y="1645920"/>
            <a:ext cx="5486400" cy="2194560"/>
          </a:xfrm>
          <a:prstGeom prst="rect">
            <a:avLst/>
          </a:prstGeom>
        </p:spPr>
      </p:pic>
      <p:pic>
        <p:nvPicPr>
          <p:cNvPr id="6" name="Picture 5" descr="08_compliance_result.png"/>
          <p:cNvPicPr>
            <a:picLocks noChangeAspect="1"/>
          </p:cNvPicPr>
          <p:nvPr/>
        </p:nvPicPr>
        <p:blipFill>
          <a:blip r:embed="rId5"/>
          <a:stretch>
            <a:fillRect/>
          </a:stretch>
        </p:blipFill>
        <p:spPr>
          <a:xfrm>
            <a:off x="457200" y="4114800"/>
            <a:ext cx="5486400" cy="2194560"/>
          </a:xfrm>
          <a:prstGeom prst="rect">
            <a:avLst/>
          </a:prstGeom>
        </p:spPr>
      </p:pic>
      <p:pic>
        <p:nvPicPr>
          <p:cNvPr id="7" name="Picture 6" descr="09_lessons_learned_result.png"/>
          <p:cNvPicPr>
            <a:picLocks noChangeAspect="1"/>
          </p:cNvPicPr>
          <p:nvPr/>
        </p:nvPicPr>
        <p:blipFill>
          <a:blip r:embed="rId6"/>
          <a:stretch>
            <a:fillRect/>
          </a:stretch>
        </p:blipFill>
        <p:spPr>
          <a:xfrm>
            <a:off x="6217920" y="4114800"/>
            <a:ext cx="5486400" cy="21945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362895" cy="2262158"/>
          </a:xfrm>
          <a:prstGeom prst="rect">
            <a:avLst/>
          </a:prstGeom>
          <a:noFill/>
        </p:spPr>
        <p:txBody>
          <a:bodyPr wrap="square">
            <a:spAutoFit/>
          </a:bodyPr>
          <a:lstStyle/>
          <a:p>
            <a:pPr algn="ctr">
              <a:spcAft>
                <a:spcPts val="600"/>
              </a:spcAft>
              <a:defRPr sz="6400" b="1">
                <a:solidFill>
                  <a:srgbClr val="F1F5F9"/>
                </a:solidFill>
                <a:latin typeface="Segoe UI"/>
              </a:defRPr>
            </a:pPr>
            <a:r>
              <a:rPr lang="en-US" dirty="0"/>
              <a:t>🧠 </a:t>
            </a:r>
            <a:r>
              <a:rPr dirty="0"/>
              <a:t>OPSBRAIN AI</a:t>
            </a:r>
          </a:p>
          <a:p>
            <a:pPr algn="ctr">
              <a:spcAft>
                <a:spcPts val="2400"/>
              </a:spcAft>
              <a:defRPr sz="2000">
                <a:solidFill>
                  <a:srgbClr val="06B6D4"/>
                </a:solidFill>
                <a:latin typeface="Segoe UI"/>
              </a:defRPr>
            </a:pPr>
            <a:r>
              <a:rPr dirty="0"/>
              <a:t>Unified Asset &amp; Operations Brain for Industrial Knowledge Intelligence</a:t>
            </a:r>
          </a:p>
          <a:p>
            <a:pPr algn="ctr">
              <a:defRPr sz="1600" b="1">
                <a:solidFill>
                  <a:srgbClr val="94A3B8"/>
                </a:solidFill>
                <a:latin typeface="Segoe UI"/>
              </a:defRPr>
            </a:pPr>
            <a:r>
              <a:rPr dirty="0"/>
              <a:t>Thank You!</a:t>
            </a:r>
            <a:br>
              <a:rPr dirty="0"/>
            </a:br>
            <a:r>
              <a:rPr dirty="0"/>
              <a:t>Ready for Live Demonstration and Q&amp;A.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
            <a:ext cx="10972800" cy="320040"/>
          </a:xfrm>
          <a:prstGeom prst="rect">
            <a:avLst/>
          </a:prstGeom>
          <a:noFill/>
        </p:spPr>
        <p:txBody>
          <a:bodyPr wrap="square">
            <a:spAutoFit/>
          </a:bodyPr>
          <a:lstStyle/>
          <a:p>
            <a:pPr algn="l"/>
            <a:r>
              <a:rPr sz="900" b="1" i="0">
                <a:solidFill>
                  <a:srgbClr val="00E5FF"/>
                </a:solidFill>
              </a:rPr>
              <a:t>FINALIST-GRADE RESILIENCE UPGRADE</a:t>
            </a:r>
          </a:p>
        </p:txBody>
      </p:sp>
      <p:sp>
        <p:nvSpPr>
          <p:cNvPr id="3" name="TextBox 2"/>
          <p:cNvSpPr txBox="1"/>
          <p:nvPr/>
        </p:nvSpPr>
        <p:spPr>
          <a:xfrm>
            <a:off x="457200" y="411480"/>
            <a:ext cx="10972800" cy="548640"/>
          </a:xfrm>
          <a:prstGeom prst="rect">
            <a:avLst/>
          </a:prstGeom>
          <a:noFill/>
        </p:spPr>
        <p:txBody>
          <a:bodyPr wrap="square">
            <a:spAutoFit/>
          </a:bodyPr>
          <a:lstStyle/>
          <a:p>
            <a:pPr algn="l"/>
            <a:r>
              <a:rPr sz="2800" b="1" i="0">
                <a:solidFill>
                  <a:srgbClr val="FFFFFF"/>
                </a:solidFill>
              </a:rPr>
              <a:t>AI PROVIDER ROUTER &amp; FAILOVER SYSTEM</a:t>
            </a:r>
          </a:p>
        </p:txBody>
      </p:sp>
      <p:sp>
        <p:nvSpPr>
          <p:cNvPr id="4" name="TextBox 3"/>
          <p:cNvSpPr txBox="1"/>
          <p:nvPr/>
        </p:nvSpPr>
        <p:spPr>
          <a:xfrm>
            <a:off x="457200" y="960120"/>
            <a:ext cx="10058400" cy="320040"/>
          </a:xfrm>
          <a:prstGeom prst="rect">
            <a:avLst/>
          </a:prstGeom>
          <a:noFill/>
        </p:spPr>
        <p:txBody>
          <a:bodyPr wrap="square">
            <a:spAutoFit/>
          </a:bodyPr>
          <a:lstStyle/>
          <a:p>
            <a:pPr algn="l"/>
            <a:r>
              <a:rPr sz="1300" b="0" i="1">
                <a:solidFill>
                  <a:srgbClr val="B0BECC"/>
                </a:solidFill>
              </a:rPr>
              <a:t>Capability-Aware Multi-Provider Failover with Circuit-Breaker Protection</a:t>
            </a:r>
          </a:p>
        </p:txBody>
      </p:sp>
      <p:sp>
        <p:nvSpPr>
          <p:cNvPr id="5" name="TextBox 4"/>
          <p:cNvSpPr txBox="1"/>
          <p:nvPr/>
        </p:nvSpPr>
        <p:spPr>
          <a:xfrm>
            <a:off x="457200" y="1298448"/>
            <a:ext cx="10972800" cy="45720"/>
          </a:xfrm>
          <a:prstGeom prst="rect">
            <a:avLst/>
          </a:prstGeom>
          <a:noFill/>
        </p:spPr>
        <p:txBody>
          <a:bodyPr wrap="none">
            <a:spAutoFit/>
          </a:bodyPr>
          <a:lstStyle/>
          <a:p>
            <a:r>
              <a:t/>
            </a:r>
          </a:p>
        </p:txBody>
      </p:sp>
      <p:sp>
        <p:nvSpPr>
          <p:cNvPr id="6" name="TextBox 5"/>
          <p:cNvSpPr txBox="1"/>
          <p:nvPr/>
        </p:nvSpPr>
        <p:spPr>
          <a:xfrm>
            <a:off x="274320" y="1463040"/>
            <a:ext cx="2011680" cy="274320"/>
          </a:xfrm>
          <a:prstGeom prst="rect">
            <a:avLst/>
          </a:prstGeom>
          <a:noFill/>
        </p:spPr>
        <p:txBody>
          <a:bodyPr wrap="square">
            <a:spAutoFit/>
          </a:bodyPr>
          <a:lstStyle/>
          <a:p>
            <a:pPr algn="l"/>
            <a:r>
              <a:rPr sz="1100" b="1" i="0">
                <a:solidFill>
                  <a:srgbClr val="00E5FF"/>
                </a:solidFill>
              </a:rPr>
              <a:t>TEXT AGENTS</a:t>
            </a:r>
          </a:p>
        </p:txBody>
      </p:sp>
      <p:sp>
        <p:nvSpPr>
          <p:cNvPr id="7" name="TextBox 6"/>
          <p:cNvSpPr txBox="1"/>
          <p:nvPr/>
        </p:nvSpPr>
        <p:spPr>
          <a:xfrm>
            <a:off x="274320" y="1719072"/>
            <a:ext cx="2286000" cy="274320"/>
          </a:xfrm>
          <a:prstGeom prst="rect">
            <a:avLst/>
          </a:prstGeom>
          <a:noFill/>
        </p:spPr>
        <p:txBody>
          <a:bodyPr wrap="square">
            <a:spAutoFit/>
          </a:bodyPr>
          <a:lstStyle/>
          <a:p>
            <a:pPr algn="l"/>
            <a:r>
              <a:rPr sz="800" b="0" i="0">
                <a:solidFill>
                  <a:srgbClr val="B0BECC"/>
                </a:solidFill>
              </a:rPr>
              <a:t>RCA, Risk, Compliance, Lessons Learned</a:t>
            </a:r>
          </a:p>
        </p:txBody>
      </p:sp>
      <p:sp>
        <p:nvSpPr>
          <p:cNvPr id="8" name="TextBox 7"/>
          <p:cNvSpPr txBox="1"/>
          <p:nvPr/>
        </p:nvSpPr>
        <p:spPr>
          <a:xfrm>
            <a:off x="2651760" y="1417320"/>
            <a:ext cx="1920240" cy="502920"/>
          </a:xfrm>
          <a:prstGeom prst="rect">
            <a:avLst/>
          </a:prstGeom>
          <a:noFill/>
        </p:spPr>
        <p:txBody>
          <a:bodyPr wrap="none">
            <a:spAutoFit/>
          </a:bodyPr>
          <a:lstStyle/>
          <a:p>
            <a:pPr algn="ctr"/>
            <a:r>
              <a:rPr sz="900" b="1">
                <a:solidFill>
                  <a:srgbClr val="00FF7F"/>
                </a:solidFill>
              </a:rPr>
              <a:t>Groq Llama-3.3</a:t>
            </a:r>
          </a:p>
          <a:p>
            <a:pPr algn="ctr"/>
            <a:r>
              <a:rPr sz="700">
                <a:solidFill>
                  <a:srgbClr val="B0BECC"/>
                </a:solidFill>
              </a:rPr>
              <a:t>Primary</a:t>
            </a:r>
          </a:p>
        </p:txBody>
      </p:sp>
      <p:sp>
        <p:nvSpPr>
          <p:cNvPr id="9" name="TextBox 8"/>
          <p:cNvSpPr txBox="1"/>
          <p:nvPr/>
        </p:nvSpPr>
        <p:spPr>
          <a:xfrm>
            <a:off x="4590288" y="1554480"/>
            <a:ext cx="274320" cy="228600"/>
          </a:xfrm>
          <a:prstGeom prst="rect">
            <a:avLst/>
          </a:prstGeom>
          <a:noFill/>
        </p:spPr>
        <p:txBody>
          <a:bodyPr wrap="none">
            <a:spAutoFit/>
          </a:bodyPr>
          <a:lstStyle/>
          <a:p>
            <a:r>
              <a:rPr sz="1100">
                <a:solidFill>
                  <a:srgbClr val="B0BECC"/>
                </a:solidFill>
              </a:rPr>
              <a:t>-&gt;</a:t>
            </a:r>
          </a:p>
        </p:txBody>
      </p:sp>
      <p:sp>
        <p:nvSpPr>
          <p:cNvPr id="10" name="TextBox 9"/>
          <p:cNvSpPr txBox="1"/>
          <p:nvPr/>
        </p:nvSpPr>
        <p:spPr>
          <a:xfrm>
            <a:off x="4892040" y="1417320"/>
            <a:ext cx="1920240" cy="502920"/>
          </a:xfrm>
          <a:prstGeom prst="rect">
            <a:avLst/>
          </a:prstGeom>
          <a:noFill/>
        </p:spPr>
        <p:txBody>
          <a:bodyPr wrap="none">
            <a:spAutoFit/>
          </a:bodyPr>
          <a:lstStyle/>
          <a:p>
            <a:pPr algn="ctr"/>
            <a:r>
              <a:rPr sz="900" b="1">
                <a:solidFill>
                  <a:srgbClr val="FFD700"/>
                </a:solidFill>
              </a:rPr>
              <a:t>Mistral API</a:t>
            </a:r>
          </a:p>
          <a:p>
            <a:pPr algn="ctr"/>
            <a:r>
              <a:rPr sz="700">
                <a:solidFill>
                  <a:srgbClr val="B0BECC"/>
                </a:solidFill>
              </a:rPr>
              <a:t>Fallback 1</a:t>
            </a:r>
          </a:p>
        </p:txBody>
      </p:sp>
      <p:sp>
        <p:nvSpPr>
          <p:cNvPr id="11" name="TextBox 10"/>
          <p:cNvSpPr txBox="1"/>
          <p:nvPr/>
        </p:nvSpPr>
        <p:spPr>
          <a:xfrm>
            <a:off x="6830568" y="1554480"/>
            <a:ext cx="274320" cy="228600"/>
          </a:xfrm>
          <a:prstGeom prst="rect">
            <a:avLst/>
          </a:prstGeom>
          <a:noFill/>
        </p:spPr>
        <p:txBody>
          <a:bodyPr wrap="none">
            <a:spAutoFit/>
          </a:bodyPr>
          <a:lstStyle/>
          <a:p>
            <a:r>
              <a:rPr sz="1100">
                <a:solidFill>
                  <a:srgbClr val="B0BECC"/>
                </a:solidFill>
              </a:rPr>
              <a:t>-&gt;</a:t>
            </a:r>
          </a:p>
        </p:txBody>
      </p:sp>
      <p:sp>
        <p:nvSpPr>
          <p:cNvPr id="12" name="TextBox 11"/>
          <p:cNvSpPr txBox="1"/>
          <p:nvPr/>
        </p:nvSpPr>
        <p:spPr>
          <a:xfrm>
            <a:off x="7132320" y="1417320"/>
            <a:ext cx="1920240" cy="502920"/>
          </a:xfrm>
          <a:prstGeom prst="rect">
            <a:avLst/>
          </a:prstGeom>
          <a:noFill/>
        </p:spPr>
        <p:txBody>
          <a:bodyPr wrap="none">
            <a:spAutoFit/>
          </a:bodyPr>
          <a:lstStyle/>
          <a:p>
            <a:pPr algn="ctr"/>
            <a:r>
              <a:rPr sz="900" b="1">
                <a:solidFill>
                  <a:srgbClr val="00E5FF"/>
                </a:solidFill>
              </a:rPr>
              <a:t>Gemini Flash</a:t>
            </a:r>
          </a:p>
          <a:p>
            <a:pPr algn="ctr"/>
            <a:r>
              <a:rPr sz="700">
                <a:solidFill>
                  <a:srgbClr val="B0BECC"/>
                </a:solidFill>
              </a:rPr>
              <a:t>Fallback 2</a:t>
            </a:r>
          </a:p>
        </p:txBody>
      </p:sp>
      <p:sp>
        <p:nvSpPr>
          <p:cNvPr id="13" name="TextBox 12"/>
          <p:cNvSpPr txBox="1"/>
          <p:nvPr/>
        </p:nvSpPr>
        <p:spPr>
          <a:xfrm>
            <a:off x="9070848" y="1554480"/>
            <a:ext cx="274320" cy="228600"/>
          </a:xfrm>
          <a:prstGeom prst="rect">
            <a:avLst/>
          </a:prstGeom>
          <a:noFill/>
        </p:spPr>
        <p:txBody>
          <a:bodyPr wrap="none">
            <a:spAutoFit/>
          </a:bodyPr>
          <a:lstStyle/>
          <a:p>
            <a:r>
              <a:rPr sz="1100">
                <a:solidFill>
                  <a:srgbClr val="B0BECC"/>
                </a:solidFill>
              </a:rPr>
              <a:t>-&gt;</a:t>
            </a:r>
          </a:p>
        </p:txBody>
      </p:sp>
      <p:sp>
        <p:nvSpPr>
          <p:cNvPr id="14" name="TextBox 13"/>
          <p:cNvSpPr txBox="1"/>
          <p:nvPr/>
        </p:nvSpPr>
        <p:spPr>
          <a:xfrm>
            <a:off x="9372600" y="1417320"/>
            <a:ext cx="1920240" cy="502920"/>
          </a:xfrm>
          <a:prstGeom prst="rect">
            <a:avLst/>
          </a:prstGeom>
          <a:noFill/>
        </p:spPr>
        <p:txBody>
          <a:bodyPr wrap="none">
            <a:spAutoFit/>
          </a:bodyPr>
          <a:lstStyle/>
          <a:p>
            <a:pPr algn="ctr"/>
            <a:r>
              <a:rPr sz="900" b="1">
                <a:solidFill>
                  <a:srgbClr val="FF6B00"/>
                </a:solidFill>
              </a:rPr>
              <a:t>Seeded Demo</a:t>
            </a:r>
          </a:p>
          <a:p>
            <a:pPr algn="ctr"/>
            <a:r>
              <a:rPr sz="700">
                <a:solidFill>
                  <a:srgbClr val="B0BECC"/>
                </a:solidFill>
              </a:rPr>
              <a:t>Fallback 3 - labeled</a:t>
            </a:r>
          </a:p>
        </p:txBody>
      </p:sp>
      <p:sp>
        <p:nvSpPr>
          <p:cNvPr id="15" name="TextBox 14"/>
          <p:cNvSpPr txBox="1"/>
          <p:nvPr/>
        </p:nvSpPr>
        <p:spPr>
          <a:xfrm>
            <a:off x="274320" y="2423160"/>
            <a:ext cx="2011680" cy="274320"/>
          </a:xfrm>
          <a:prstGeom prst="rect">
            <a:avLst/>
          </a:prstGeom>
          <a:noFill/>
        </p:spPr>
        <p:txBody>
          <a:bodyPr wrap="square">
            <a:spAutoFit/>
          </a:bodyPr>
          <a:lstStyle/>
          <a:p>
            <a:pPr algn="l"/>
            <a:r>
              <a:rPr sz="1100" b="1" i="0">
                <a:solidFill>
                  <a:srgbClr val="00E5FF"/>
                </a:solidFill>
              </a:rPr>
              <a:t>RAG COPILOT</a:t>
            </a:r>
          </a:p>
        </p:txBody>
      </p:sp>
      <p:sp>
        <p:nvSpPr>
          <p:cNvPr id="16" name="TextBox 15"/>
          <p:cNvSpPr txBox="1"/>
          <p:nvPr/>
        </p:nvSpPr>
        <p:spPr>
          <a:xfrm>
            <a:off x="274320" y="2679192"/>
            <a:ext cx="2286000" cy="274320"/>
          </a:xfrm>
          <a:prstGeom prst="rect">
            <a:avLst/>
          </a:prstGeom>
          <a:noFill/>
        </p:spPr>
        <p:txBody>
          <a:bodyPr wrap="square">
            <a:spAutoFit/>
          </a:bodyPr>
          <a:lstStyle/>
          <a:p>
            <a:pPr algn="l"/>
            <a:r>
              <a:rPr sz="800" b="0" i="0">
                <a:solidFill>
                  <a:srgbClr val="B0BECC"/>
                </a:solidFill>
              </a:rPr>
              <a:t>Knowledge Copilot answers with citations</a:t>
            </a:r>
          </a:p>
        </p:txBody>
      </p:sp>
      <p:sp>
        <p:nvSpPr>
          <p:cNvPr id="17" name="TextBox 16"/>
          <p:cNvSpPr txBox="1"/>
          <p:nvPr/>
        </p:nvSpPr>
        <p:spPr>
          <a:xfrm>
            <a:off x="2651760" y="2377440"/>
            <a:ext cx="1920240" cy="502920"/>
          </a:xfrm>
          <a:prstGeom prst="rect">
            <a:avLst/>
          </a:prstGeom>
          <a:noFill/>
        </p:spPr>
        <p:txBody>
          <a:bodyPr wrap="none">
            <a:spAutoFit/>
          </a:bodyPr>
          <a:lstStyle/>
          <a:p>
            <a:pPr algn="ctr"/>
            <a:r>
              <a:rPr sz="900" b="1">
                <a:solidFill>
                  <a:srgbClr val="00FF7F"/>
                </a:solidFill>
              </a:rPr>
              <a:t>Groq Llama-3.3</a:t>
            </a:r>
          </a:p>
          <a:p>
            <a:pPr algn="ctr"/>
            <a:r>
              <a:rPr sz="700">
                <a:solidFill>
                  <a:srgbClr val="B0BECC"/>
                </a:solidFill>
              </a:rPr>
              <a:t>Primary</a:t>
            </a:r>
          </a:p>
        </p:txBody>
      </p:sp>
      <p:sp>
        <p:nvSpPr>
          <p:cNvPr id="18" name="TextBox 17"/>
          <p:cNvSpPr txBox="1"/>
          <p:nvPr/>
        </p:nvSpPr>
        <p:spPr>
          <a:xfrm>
            <a:off x="4590288" y="2514600"/>
            <a:ext cx="274320" cy="228600"/>
          </a:xfrm>
          <a:prstGeom prst="rect">
            <a:avLst/>
          </a:prstGeom>
          <a:noFill/>
        </p:spPr>
        <p:txBody>
          <a:bodyPr wrap="none">
            <a:spAutoFit/>
          </a:bodyPr>
          <a:lstStyle/>
          <a:p>
            <a:r>
              <a:rPr sz="1100">
                <a:solidFill>
                  <a:srgbClr val="B0BECC"/>
                </a:solidFill>
              </a:rPr>
              <a:t>-&gt;</a:t>
            </a:r>
          </a:p>
        </p:txBody>
      </p:sp>
      <p:sp>
        <p:nvSpPr>
          <p:cNvPr id="19" name="TextBox 18"/>
          <p:cNvSpPr txBox="1"/>
          <p:nvPr/>
        </p:nvSpPr>
        <p:spPr>
          <a:xfrm>
            <a:off x="4892040" y="2377440"/>
            <a:ext cx="1920240" cy="502920"/>
          </a:xfrm>
          <a:prstGeom prst="rect">
            <a:avLst/>
          </a:prstGeom>
          <a:noFill/>
        </p:spPr>
        <p:txBody>
          <a:bodyPr wrap="none">
            <a:spAutoFit/>
          </a:bodyPr>
          <a:lstStyle/>
          <a:p>
            <a:pPr algn="ctr"/>
            <a:r>
              <a:rPr sz="900" b="1">
                <a:solidFill>
                  <a:srgbClr val="FFD700"/>
                </a:solidFill>
              </a:rPr>
              <a:t>Mistral API</a:t>
            </a:r>
          </a:p>
          <a:p>
            <a:pPr algn="ctr"/>
            <a:r>
              <a:rPr sz="700">
                <a:solidFill>
                  <a:srgbClr val="B0BECC"/>
                </a:solidFill>
              </a:rPr>
              <a:t>Fallback 1</a:t>
            </a:r>
          </a:p>
        </p:txBody>
      </p:sp>
      <p:sp>
        <p:nvSpPr>
          <p:cNvPr id="20" name="TextBox 19"/>
          <p:cNvSpPr txBox="1"/>
          <p:nvPr/>
        </p:nvSpPr>
        <p:spPr>
          <a:xfrm>
            <a:off x="6830568" y="2514600"/>
            <a:ext cx="274320" cy="228600"/>
          </a:xfrm>
          <a:prstGeom prst="rect">
            <a:avLst/>
          </a:prstGeom>
          <a:noFill/>
        </p:spPr>
        <p:txBody>
          <a:bodyPr wrap="none">
            <a:spAutoFit/>
          </a:bodyPr>
          <a:lstStyle/>
          <a:p>
            <a:r>
              <a:rPr sz="1100">
                <a:solidFill>
                  <a:srgbClr val="B0BECC"/>
                </a:solidFill>
              </a:rPr>
              <a:t>-&gt;</a:t>
            </a:r>
          </a:p>
        </p:txBody>
      </p:sp>
      <p:sp>
        <p:nvSpPr>
          <p:cNvPr id="21" name="TextBox 20"/>
          <p:cNvSpPr txBox="1"/>
          <p:nvPr/>
        </p:nvSpPr>
        <p:spPr>
          <a:xfrm>
            <a:off x="7132320" y="2377440"/>
            <a:ext cx="1920240" cy="502920"/>
          </a:xfrm>
          <a:prstGeom prst="rect">
            <a:avLst/>
          </a:prstGeom>
          <a:noFill/>
        </p:spPr>
        <p:txBody>
          <a:bodyPr wrap="none">
            <a:spAutoFit/>
          </a:bodyPr>
          <a:lstStyle/>
          <a:p>
            <a:pPr algn="ctr"/>
            <a:r>
              <a:rPr sz="900" b="1">
                <a:solidFill>
                  <a:srgbClr val="00E5FF"/>
                </a:solidFill>
              </a:rPr>
              <a:t>Gemini Flash</a:t>
            </a:r>
          </a:p>
          <a:p>
            <a:pPr algn="ctr"/>
            <a:r>
              <a:rPr sz="700">
                <a:solidFill>
                  <a:srgbClr val="B0BECC"/>
                </a:solidFill>
              </a:rPr>
              <a:t>Fallback 2</a:t>
            </a:r>
          </a:p>
        </p:txBody>
      </p:sp>
      <p:sp>
        <p:nvSpPr>
          <p:cNvPr id="22" name="TextBox 21"/>
          <p:cNvSpPr txBox="1"/>
          <p:nvPr/>
        </p:nvSpPr>
        <p:spPr>
          <a:xfrm>
            <a:off x="9070848" y="2514600"/>
            <a:ext cx="274320" cy="228600"/>
          </a:xfrm>
          <a:prstGeom prst="rect">
            <a:avLst/>
          </a:prstGeom>
          <a:noFill/>
        </p:spPr>
        <p:txBody>
          <a:bodyPr wrap="none">
            <a:spAutoFit/>
          </a:bodyPr>
          <a:lstStyle/>
          <a:p>
            <a:r>
              <a:rPr sz="1100">
                <a:solidFill>
                  <a:srgbClr val="B0BECC"/>
                </a:solidFill>
              </a:rPr>
              <a:t>-&gt;</a:t>
            </a:r>
          </a:p>
        </p:txBody>
      </p:sp>
      <p:sp>
        <p:nvSpPr>
          <p:cNvPr id="23" name="TextBox 22"/>
          <p:cNvSpPr txBox="1"/>
          <p:nvPr/>
        </p:nvSpPr>
        <p:spPr>
          <a:xfrm>
            <a:off x="9372600" y="2377440"/>
            <a:ext cx="1920240" cy="502920"/>
          </a:xfrm>
          <a:prstGeom prst="rect">
            <a:avLst/>
          </a:prstGeom>
          <a:noFill/>
        </p:spPr>
        <p:txBody>
          <a:bodyPr wrap="none">
            <a:spAutoFit/>
          </a:bodyPr>
          <a:lstStyle/>
          <a:p>
            <a:pPr algn="ctr"/>
            <a:r>
              <a:rPr sz="900" b="1">
                <a:solidFill>
                  <a:srgbClr val="FF6B00"/>
                </a:solidFill>
              </a:rPr>
              <a:t>Seeded Demo</a:t>
            </a:r>
          </a:p>
          <a:p>
            <a:pPr algn="ctr"/>
            <a:r>
              <a:rPr sz="700">
                <a:solidFill>
                  <a:srgbClr val="B0BECC"/>
                </a:solidFill>
              </a:rPr>
              <a:t>Fallback 3 - labeled</a:t>
            </a:r>
          </a:p>
        </p:txBody>
      </p:sp>
      <p:sp>
        <p:nvSpPr>
          <p:cNvPr id="24" name="TextBox 23"/>
          <p:cNvSpPr txBox="1"/>
          <p:nvPr/>
        </p:nvSpPr>
        <p:spPr>
          <a:xfrm>
            <a:off x="274320" y="3383280"/>
            <a:ext cx="2011680" cy="274320"/>
          </a:xfrm>
          <a:prstGeom prst="rect">
            <a:avLst/>
          </a:prstGeom>
          <a:noFill/>
        </p:spPr>
        <p:txBody>
          <a:bodyPr wrap="square">
            <a:spAutoFit/>
          </a:bodyPr>
          <a:lstStyle/>
          <a:p>
            <a:pPr algn="l"/>
            <a:r>
              <a:rPr sz="1100" b="1" i="0">
                <a:solidFill>
                  <a:srgbClr val="00E5FF"/>
                </a:solidFill>
              </a:rPr>
              <a:t>P&amp;ID VISION</a:t>
            </a:r>
          </a:p>
        </p:txBody>
      </p:sp>
      <p:sp>
        <p:nvSpPr>
          <p:cNvPr id="25" name="TextBox 24"/>
          <p:cNvSpPr txBox="1"/>
          <p:nvPr/>
        </p:nvSpPr>
        <p:spPr>
          <a:xfrm>
            <a:off x="274320" y="3639312"/>
            <a:ext cx="2286000" cy="274320"/>
          </a:xfrm>
          <a:prstGeom prst="rect">
            <a:avLst/>
          </a:prstGeom>
          <a:noFill/>
        </p:spPr>
        <p:txBody>
          <a:bodyPr wrap="square">
            <a:spAutoFit/>
          </a:bodyPr>
          <a:lstStyle/>
          <a:p>
            <a:pPr algn="l"/>
            <a:r>
              <a:rPr sz="800" b="0" i="0">
                <a:solidFill>
                  <a:srgbClr val="B0BECC"/>
                </a:solidFill>
              </a:rPr>
              <a:t>Gemini Vision -&gt; Cached P&amp;ID extraction -&gt; Graceful error</a:t>
            </a:r>
          </a:p>
        </p:txBody>
      </p:sp>
      <p:sp>
        <p:nvSpPr>
          <p:cNvPr id="26" name="TextBox 25"/>
          <p:cNvSpPr txBox="1"/>
          <p:nvPr/>
        </p:nvSpPr>
        <p:spPr>
          <a:xfrm>
            <a:off x="2651760" y="3337560"/>
            <a:ext cx="1920240" cy="502920"/>
          </a:xfrm>
          <a:prstGeom prst="rect">
            <a:avLst/>
          </a:prstGeom>
          <a:noFill/>
        </p:spPr>
        <p:txBody>
          <a:bodyPr wrap="none">
            <a:spAutoFit/>
          </a:bodyPr>
          <a:lstStyle/>
          <a:p>
            <a:pPr algn="ctr"/>
            <a:r>
              <a:rPr sz="900" b="1">
                <a:solidFill>
                  <a:srgbClr val="00E5FF"/>
                </a:solidFill>
              </a:rPr>
              <a:t>Gemini Flash Vision</a:t>
            </a:r>
          </a:p>
          <a:p>
            <a:pPr algn="ctr"/>
            <a:r>
              <a:rPr sz="700">
                <a:solidFill>
                  <a:srgbClr val="B0BECC"/>
                </a:solidFill>
              </a:rPr>
              <a:t>Primary</a:t>
            </a:r>
          </a:p>
        </p:txBody>
      </p:sp>
      <p:sp>
        <p:nvSpPr>
          <p:cNvPr id="27" name="TextBox 26"/>
          <p:cNvSpPr txBox="1"/>
          <p:nvPr/>
        </p:nvSpPr>
        <p:spPr>
          <a:xfrm>
            <a:off x="4590288" y="3474720"/>
            <a:ext cx="274320" cy="228600"/>
          </a:xfrm>
          <a:prstGeom prst="rect">
            <a:avLst/>
          </a:prstGeom>
          <a:noFill/>
        </p:spPr>
        <p:txBody>
          <a:bodyPr wrap="none">
            <a:spAutoFit/>
          </a:bodyPr>
          <a:lstStyle/>
          <a:p>
            <a:r>
              <a:rPr sz="1100">
                <a:solidFill>
                  <a:srgbClr val="B0BECC"/>
                </a:solidFill>
              </a:rPr>
              <a:t>-&gt;</a:t>
            </a:r>
          </a:p>
        </p:txBody>
      </p:sp>
      <p:sp>
        <p:nvSpPr>
          <p:cNvPr id="28" name="TextBox 27"/>
          <p:cNvSpPr txBox="1"/>
          <p:nvPr/>
        </p:nvSpPr>
        <p:spPr>
          <a:xfrm>
            <a:off x="4892040" y="3337560"/>
            <a:ext cx="1920240" cy="502920"/>
          </a:xfrm>
          <a:prstGeom prst="rect">
            <a:avLst/>
          </a:prstGeom>
          <a:noFill/>
        </p:spPr>
        <p:txBody>
          <a:bodyPr wrap="none">
            <a:spAutoFit/>
          </a:bodyPr>
          <a:lstStyle/>
          <a:p>
            <a:pPr algn="ctr"/>
            <a:r>
              <a:rPr sz="900" b="1">
                <a:solidFill>
                  <a:srgbClr val="FFD700"/>
                </a:solidFill>
              </a:rPr>
              <a:t>Cached P&amp;ID Extract</a:t>
            </a:r>
          </a:p>
          <a:p>
            <a:pPr algn="ctr"/>
            <a:r>
              <a:rPr sz="700">
                <a:solidFill>
                  <a:srgbClr val="B0BECC"/>
                </a:solidFill>
              </a:rPr>
              <a:t>Fallback</a:t>
            </a:r>
          </a:p>
        </p:txBody>
      </p:sp>
      <p:sp>
        <p:nvSpPr>
          <p:cNvPr id="29" name="TextBox 28"/>
          <p:cNvSpPr txBox="1"/>
          <p:nvPr/>
        </p:nvSpPr>
        <p:spPr>
          <a:xfrm>
            <a:off x="6830568" y="3474720"/>
            <a:ext cx="274320" cy="228600"/>
          </a:xfrm>
          <a:prstGeom prst="rect">
            <a:avLst/>
          </a:prstGeom>
          <a:noFill/>
        </p:spPr>
        <p:txBody>
          <a:bodyPr wrap="none">
            <a:spAutoFit/>
          </a:bodyPr>
          <a:lstStyle/>
          <a:p>
            <a:r>
              <a:rPr sz="1100">
                <a:solidFill>
                  <a:srgbClr val="B0BECC"/>
                </a:solidFill>
              </a:rPr>
              <a:t>-&gt;</a:t>
            </a:r>
          </a:p>
        </p:txBody>
      </p:sp>
      <p:sp>
        <p:nvSpPr>
          <p:cNvPr id="30" name="TextBox 29"/>
          <p:cNvSpPr txBox="1"/>
          <p:nvPr/>
        </p:nvSpPr>
        <p:spPr>
          <a:xfrm>
            <a:off x="7132320" y="3337560"/>
            <a:ext cx="1920240" cy="502920"/>
          </a:xfrm>
          <a:prstGeom prst="rect">
            <a:avLst/>
          </a:prstGeom>
          <a:noFill/>
        </p:spPr>
        <p:txBody>
          <a:bodyPr wrap="none">
            <a:spAutoFit/>
          </a:bodyPr>
          <a:lstStyle/>
          <a:p>
            <a:pPr algn="ctr"/>
            <a:r>
              <a:rPr sz="900" b="1">
                <a:solidFill>
                  <a:srgbClr val="FF6B00"/>
                </a:solidFill>
              </a:rPr>
              <a:t>Graceful Error</a:t>
            </a:r>
          </a:p>
          <a:p>
            <a:pPr algn="ctr"/>
            <a:r>
              <a:rPr sz="700">
                <a:solidFill>
                  <a:srgbClr val="B0BECC"/>
                </a:solidFill>
              </a:rPr>
              <a:t>Final</a:t>
            </a:r>
          </a:p>
        </p:txBody>
      </p:sp>
      <p:sp>
        <p:nvSpPr>
          <p:cNvPr id="31" name="TextBox 30"/>
          <p:cNvSpPr txBox="1"/>
          <p:nvPr/>
        </p:nvSpPr>
        <p:spPr>
          <a:xfrm>
            <a:off x="274320" y="4343400"/>
            <a:ext cx="2011680" cy="274320"/>
          </a:xfrm>
          <a:prstGeom prst="rect">
            <a:avLst/>
          </a:prstGeom>
          <a:noFill/>
        </p:spPr>
        <p:txBody>
          <a:bodyPr wrap="square">
            <a:spAutoFit/>
          </a:bodyPr>
          <a:lstStyle/>
          <a:p>
            <a:pPr algn="l"/>
            <a:r>
              <a:rPr sz="1100" b="1" i="0">
                <a:solidFill>
                  <a:srgbClr val="00E5FF"/>
                </a:solidFill>
              </a:rPr>
              <a:t>EMBEDDINGS</a:t>
            </a:r>
          </a:p>
        </p:txBody>
      </p:sp>
      <p:sp>
        <p:nvSpPr>
          <p:cNvPr id="32" name="TextBox 31"/>
          <p:cNvSpPr txBox="1"/>
          <p:nvPr/>
        </p:nvSpPr>
        <p:spPr>
          <a:xfrm>
            <a:off x="274320" y="4599432"/>
            <a:ext cx="2286000" cy="274320"/>
          </a:xfrm>
          <a:prstGeom prst="rect">
            <a:avLst/>
          </a:prstGeom>
          <a:noFill/>
        </p:spPr>
        <p:txBody>
          <a:bodyPr wrap="square">
            <a:spAutoFit/>
          </a:bodyPr>
          <a:lstStyle/>
          <a:p>
            <a:pPr algn="l"/>
            <a:r>
              <a:rPr sz="800" b="0" i="0">
                <a:solidFill>
                  <a:srgbClr val="B0BECC"/>
                </a:solidFill>
              </a:rPr>
              <a:t>Always local CPU BGE-small-en-v1.5 (no cloud routing)</a:t>
            </a:r>
          </a:p>
        </p:txBody>
      </p:sp>
      <p:sp>
        <p:nvSpPr>
          <p:cNvPr id="33" name="TextBox 32"/>
          <p:cNvSpPr txBox="1"/>
          <p:nvPr/>
        </p:nvSpPr>
        <p:spPr>
          <a:xfrm>
            <a:off x="2651760" y="4297680"/>
            <a:ext cx="5486400" cy="502920"/>
          </a:xfrm>
          <a:prstGeom prst="rect">
            <a:avLst/>
          </a:prstGeom>
          <a:noFill/>
        </p:spPr>
        <p:txBody>
          <a:bodyPr wrap="none">
            <a:spAutoFit/>
          </a:bodyPr>
          <a:lstStyle/>
          <a:p>
            <a:r>
              <a:rPr sz="1000" b="1">
                <a:solidFill>
                  <a:srgbClr val="00FF7F"/>
                </a:solidFill>
              </a:rPr>
              <a:t>Local BAAI/bge-small-en-v1.5 (CPU-only, 384-dim, never routed to cloud)</a:t>
            </a:r>
          </a:p>
        </p:txBody>
      </p:sp>
      <p:sp>
        <p:nvSpPr>
          <p:cNvPr id="34" name="TextBox 33"/>
          <p:cNvSpPr txBox="1"/>
          <p:nvPr/>
        </p:nvSpPr>
        <p:spPr>
          <a:xfrm>
            <a:off x="274320" y="5532120"/>
            <a:ext cx="11430000" cy="411480"/>
          </a:xfrm>
          <a:prstGeom prst="rect">
            <a:avLst/>
          </a:prstGeom>
          <a:noFill/>
        </p:spPr>
        <p:txBody>
          <a:bodyPr wrap="square">
            <a:spAutoFit/>
          </a:bodyPr>
          <a:lstStyle/>
          <a:p>
            <a:pPr algn="l"/>
            <a:r>
              <a:rPr sz="900" b="0" i="1">
                <a:solidFill>
                  <a:srgbClr val="FF6B00"/>
                </a:solidFill>
              </a:rPr>
              <a:t>Circuit Breaker: 3 consecutive failures -&gt; provider marked DEGRADED for 60s. Fallback label always visible to judges - no silent fake success.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1252</Words>
  <Application>Microsoft Office PowerPoint</Application>
  <PresentationFormat>Widescreen</PresentationFormat>
  <Paragraphs>88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MURUGESAN R</cp:lastModifiedBy>
  <cp:revision>4</cp:revision>
  <dcterms:created xsi:type="dcterms:W3CDTF">2013-01-27T09:14:16Z</dcterms:created>
  <dcterms:modified xsi:type="dcterms:W3CDTF">2026-06-24T16:05:23Z</dcterms:modified>
  <cp:category/>
</cp:coreProperties>
</file>
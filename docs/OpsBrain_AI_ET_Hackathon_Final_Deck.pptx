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judges. Heavy industrial plants suffer from fragmented data silos. Today, we introduce OpsBrain AI, a Unified Asset &amp; Operations Brain that connects physical drawings, PDF safety guidelines, and a synthetic SCADA-style telemetry stream into an interactive digital twin to support operational safety and prevent accidents.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Modern facilities generate massive volumes of sensor telemetry, yet outages and incidents still happen. Why? Because the telemetry exists in complete isolation. An operator gets a pressure warning but has no quick way to cross-reference the physical piping diagram or check the safety handbook sitting on a shelf. This manual lookup delay is what we call the operational knowledge cliff.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OpsBrain AI functions as a unified nervous system. It digests blueprints and manuals, extracts connection pathways, and maps them into a relational digital twin. A team of specialized autonomous agents then monitors this digital twin, translating raw telemetry into actionable compliance audits and safety diagnostics.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drill down into the Digital Twin workspace. We don't ask engineers to draw these graphs. Our parser uses Gemini Vision to read standard blueprint schematics, extracting tags and flow relationships to build the schema automatically. At the same time, safety SOP manuals are parsed and indexed locally using CPU-bound BGE embeddings—keeping 100% of sensitive data within the plant's firewall.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Rather than using a single, general chatbot, we deploy a team of five specialized agents. When an operator runs Root Cause Analysis on COB-1, the dashboard goes into AI Investigation Mode. The HUD consoles stream inference logs, and the ReactFlow graph pulses in warning colors, physically mapping the cascade of failure across pipe lines on screen.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let's query the Knowledge Copilot: 'Why is COB-1 operating at critical risk?'. Unlike generic RAG search bars that return unstructured text paragraphs, OpsBrain creates a Graph-Aware Evidence Path. It maps the logical path of the query directly onto the physical nodes of the digital twin, and cites specific safety manual clauses, complete with calculated confidence scores, allowing the engineer to verify the source instantly.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Heavy facilities cannot tolerate empty loading spinners. If external cloud APIs rate-limit or fail, our built-in Provider Router handles the failover. If the primary Groq endpoint experiences latency, the circuit breaker routes requests to Mistral and Gemini, or finally to pre-compiled local caches—ensuring the dashboard remains active and responsive.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prove scalability, we added the Refinery Pump Station dataset. Using the same shared schema and agent pipeline, exposed through an optional refinery seed endpoint, we can seed and select the Refinery demo. This swaps the digital twin to a pump station layout—verifying our model's adaptability to different asset schemas.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validate our prototype against our pre-seeded Vizag Steel dataset. OpsBrain achieves 97.8% entity parsing accuracy on P&amp;IDs and an average query latency of 1.8 seconds—transforming safety lookups from a 35-minute manual search into a 2-second check.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OpsBrain AI delivers a 35% safety search speedup and predicts outages before they propagate. Our roadmap focuses on integrating edge PLC connections and deploying fully local LLMs like Llama-3-8B. OpsBrain provides the context operators need to protect equipment, maximize uptime, and achieve zero-harm goals. Thank you, and we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914400" y="2011680"/>
            <a:ext cx="10362895" cy="2286000"/>
          </a:xfrm>
          <a:prstGeom prst="rect">
            <a:avLst/>
          </a:prstGeom>
          <a:noFill/>
        </p:spPr>
        <p:txBody>
          <a:bodyPr wrap="square">
            <a:spAutoFit/>
          </a:bodyPr>
          <a:lstStyle/>
          <a:p>
            <a:pPr algn="ctr">
              <a:defRPr sz="6400" b="1">
                <a:solidFill>
                  <a:srgbClr val="00E5FF"/>
                </a:solidFill>
                <a:latin typeface="Inter"/>
              </a:defRPr>
            </a:pPr>
            <a:r>
              <a:t>OpsBrain AI</a:t>
            </a:r>
          </a:p>
          <a:p>
            <a:pPr algn="ctr">
              <a:spcBef>
                <a:spcPts val="2000"/>
              </a:spcBef>
              <a:defRPr sz="2200">
                <a:solidFill>
                  <a:srgbClr val="FFFFFF"/>
                </a:solidFill>
                <a:latin typeface="Inter"/>
              </a:defRPr>
            </a:pPr>
            <a:r>
              <a:t>Unified Asset &amp; Operations Brain for Zero-Harm Plants</a:t>
            </a:r>
          </a:p>
          <a:p>
            <a:pPr algn="ctr">
              <a:spcBef>
                <a:spcPts val="3000"/>
              </a:spcBef>
              <a:defRPr sz="1400">
                <a:solidFill>
                  <a:srgbClr val="FF9100"/>
                </a:solidFill>
                <a:latin typeface="Roboto"/>
              </a:defRPr>
            </a:pPr>
            <a:r>
              <a:t>ET AI Hackathon 2026 | Problem Statement #8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548640" y="365760"/>
            <a:ext cx="4572000" cy="365760"/>
          </a:xfrm>
          <a:prstGeom prst="rect">
            <a:avLst/>
          </a:prstGeom>
          <a:noFill/>
        </p:spPr>
        <p:txBody>
          <a:bodyPr wrap="square" lIns="0" rIns="0" tIns="0" bIns="0">
            <a:spAutoFit/>
          </a:bodyPr>
          <a:lstStyle/>
          <a:p>
            <a:pPr>
              <a:defRPr sz="1000" b="1">
                <a:solidFill>
                  <a:srgbClr val="FF9100"/>
                </a:solidFill>
                <a:latin typeface="Roboto"/>
              </a:defRPr>
            </a:pPr>
            <a:r>
              <a:t>THE PROBLEM</a:t>
            </a:r>
          </a:p>
        </p:txBody>
      </p:sp>
      <p:sp>
        <p:nvSpPr>
          <p:cNvPr id="3" name="TextBox 2"/>
          <p:cNvSpPr txBox="1"/>
          <p:nvPr/>
        </p:nvSpPr>
        <p:spPr>
          <a:xfrm>
            <a:off x="548640" y="640080"/>
            <a:ext cx="10972800" cy="731520"/>
          </a:xfrm>
          <a:prstGeom prst="rect">
            <a:avLst/>
          </a:prstGeom>
          <a:noFill/>
        </p:spPr>
        <p:txBody>
          <a:bodyPr wrap="square" lIns="0" rIns="0" tIns="0" bIns="0">
            <a:spAutoFit/>
          </a:bodyPr>
          <a:lstStyle/>
          <a:p>
            <a:pPr>
              <a:defRPr sz="2800" b="1">
                <a:solidFill>
                  <a:srgbClr val="00E5FF"/>
                </a:solidFill>
                <a:latin typeface="Inter"/>
              </a:defRPr>
            </a:pPr>
            <a:r>
              <a:t>Operational Silos &amp; SCADA Blindspots</a:t>
            </a:r>
          </a:p>
        </p:txBody>
      </p:sp>
      <p:sp>
        <p:nvSpPr>
          <p:cNvPr id="4" name="TextBox 3"/>
          <p:cNvSpPr txBox="1"/>
          <p:nvPr/>
        </p:nvSpPr>
        <p:spPr>
          <a:xfrm>
            <a:off x="548640" y="1645920"/>
            <a:ext cx="5486400" cy="4572000"/>
          </a:xfrm>
          <a:prstGeom prst="rect">
            <a:avLst/>
          </a:prstGeom>
          <a:noFill/>
        </p:spPr>
        <p:txBody>
          <a:bodyPr wrap="square">
            <a:spAutoFit/>
          </a:bodyPr>
          <a:lstStyle/>
          <a:p>
            <a:pPr>
              <a:defRPr sz="1800" b="1">
                <a:solidFill>
                  <a:srgbClr val="00E5FF"/>
                </a:solidFill>
                <a:latin typeface="Inter"/>
              </a:defRPr>
            </a:pPr>
            <a:r>
              <a:t>•  Sensor Blind Spots</a:t>
            </a:r>
          </a:p>
          <a:p>
            <a:pPr>
              <a:spcBef>
                <a:spcPts val="400"/>
              </a:spcBef>
              <a:defRPr sz="1400">
                <a:solidFill>
                  <a:srgbClr val="B4B9C3"/>
                </a:solidFill>
                <a:latin typeface="Roboto"/>
              </a:defRPr>
            </a:pPr>
            <a:r>
              <a:t>SCADA alarms warn of pressure spikes but do not know isolation valve status or the mandated safety steps.</a:t>
            </a:r>
          </a:p>
          <a:p>
            <a:pPr>
              <a:spcBef>
                <a:spcPts val="1500"/>
              </a:spcBef>
              <a:defRPr sz="1800" b="1">
                <a:solidFill>
                  <a:srgbClr val="00E5FF"/>
                </a:solidFill>
                <a:latin typeface="Inter"/>
              </a:defRPr>
            </a:pPr>
            <a:r>
              <a:t>•  The Knowledge Cliff</a:t>
            </a:r>
          </a:p>
          <a:p>
            <a:pPr>
              <a:spcBef>
                <a:spcPts val="400"/>
              </a:spcBef>
              <a:defRPr sz="1400">
                <a:solidFill>
                  <a:srgbClr val="B4B9C3"/>
                </a:solidFill>
                <a:latin typeface="Roboto"/>
              </a:defRPr>
            </a:pPr>
            <a:r>
              <a:t>Retiring senior engineers carry years of undocumented plant heuristics away, leaving junior operators with sparse guidance.</a:t>
            </a:r>
          </a:p>
          <a:p>
            <a:pPr>
              <a:spcBef>
                <a:spcPts val="1500"/>
              </a:spcBef>
              <a:defRPr sz="1800" b="1">
                <a:solidFill>
                  <a:srgbClr val="00E5FF"/>
                </a:solidFill>
                <a:latin typeface="Inter"/>
              </a:defRPr>
            </a:pPr>
            <a:r>
              <a:t>•  Audit Latency</a:t>
            </a:r>
          </a:p>
          <a:p>
            <a:pPr>
              <a:spcBef>
                <a:spcPts val="400"/>
              </a:spcBef>
              <a:defRPr sz="1400">
                <a:solidFill>
                  <a:srgbClr val="B4B9C3"/>
                </a:solidFill>
                <a:latin typeface="Roboto"/>
              </a:defRPr>
            </a:pPr>
            <a:r>
              <a:t>Cross-referencing safety compliance logs manually during an alert takes hours, slowing emergency response.</a:t>
            </a:r>
          </a:p>
        </p:txBody>
      </p:sp>
      <p:sp>
        <p:nvSpPr>
          <p:cNvPr id="5" name="Rectangle 4"/>
          <p:cNvSpPr/>
          <p:nvPr/>
        </p:nvSpPr>
        <p:spPr>
          <a:xfrm>
            <a:off x="6583680" y="2011680"/>
            <a:ext cx="2377440" cy="1645920"/>
          </a:xfrm>
          <a:prstGeom prst="rect">
            <a:avLst/>
          </a:prstGeom>
          <a:solidFill>
            <a:srgbClr val="141928"/>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defRPr sz="1400" b="1">
                <a:solidFill>
                  <a:srgbClr val="00E5FF"/>
                </a:solidFill>
                <a:latin typeface="Inter"/>
              </a:defRPr>
            </a:pPr>
            <a:r>
              <a:t>SCADA Telemetry</a:t>
            </a:r>
          </a:p>
          <a:p>
            <a:pPr>
              <a:spcBef>
                <a:spcPts val="600"/>
              </a:spcBef>
              <a:defRPr sz="1100">
                <a:solidFill>
                  <a:srgbClr val="B4B9C3"/>
                </a:solidFill>
                <a:latin typeface="Roboto"/>
              </a:defRPr>
            </a:pPr>
            <a:r>
              <a:t>Out-of-context sensor readings</a:t>
            </a:r>
          </a:p>
        </p:txBody>
      </p:sp>
      <p:sp>
        <p:nvSpPr>
          <p:cNvPr id="6" name="Rectangle 5"/>
          <p:cNvSpPr/>
          <p:nvPr/>
        </p:nvSpPr>
        <p:spPr>
          <a:xfrm>
            <a:off x="9144000" y="2011680"/>
            <a:ext cx="2377440" cy="1645920"/>
          </a:xfrm>
          <a:prstGeom prst="rect">
            <a:avLst/>
          </a:prstGeom>
          <a:solidFill>
            <a:srgbClr val="141928"/>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defRPr sz="1400" b="1">
                <a:solidFill>
                  <a:srgbClr val="FFFFFF"/>
                </a:solidFill>
                <a:latin typeface="Inter"/>
              </a:defRPr>
            </a:pPr>
            <a:r>
              <a:t>Regulatory SOPs</a:t>
            </a:r>
          </a:p>
          <a:p>
            <a:pPr>
              <a:spcBef>
                <a:spcPts val="600"/>
              </a:spcBef>
              <a:defRPr sz="1100">
                <a:solidFill>
                  <a:srgbClr val="B4B9C3"/>
                </a:solidFill>
                <a:latin typeface="Roboto"/>
              </a:defRPr>
            </a:pPr>
            <a:r>
              <a:t>Trapped in static PDF binders</a:t>
            </a:r>
          </a:p>
        </p:txBody>
      </p:sp>
      <p:sp>
        <p:nvSpPr>
          <p:cNvPr id="7" name="Rectangle 6"/>
          <p:cNvSpPr/>
          <p:nvPr/>
        </p:nvSpPr>
        <p:spPr>
          <a:xfrm>
            <a:off x="6583680" y="4023360"/>
            <a:ext cx="2377440" cy="1645920"/>
          </a:xfrm>
          <a:prstGeom prst="rect">
            <a:avLst/>
          </a:prstGeom>
          <a:solidFill>
            <a:srgbClr val="141928"/>
          </a:solidFill>
          <a:ln w="19050">
            <a:solidFill>
              <a:srgbClr val="B4B9C3"/>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defRPr sz="1400" b="1">
                <a:solidFill>
                  <a:srgbClr val="B4B9C3"/>
                </a:solidFill>
                <a:latin typeface="Inter"/>
              </a:defRPr>
            </a:pPr>
            <a:r>
              <a:t>Asset Blueprints</a:t>
            </a:r>
          </a:p>
          <a:p>
            <a:pPr>
              <a:spcBef>
                <a:spcPts val="600"/>
              </a:spcBef>
              <a:defRPr sz="1100">
                <a:solidFill>
                  <a:srgbClr val="B4B9C3"/>
                </a:solidFill>
                <a:latin typeface="Roboto"/>
              </a:defRPr>
            </a:pPr>
            <a:r>
              <a:t>Rasterized blueprints disconnected from state</a:t>
            </a:r>
          </a:p>
        </p:txBody>
      </p:sp>
      <p:sp>
        <p:nvSpPr>
          <p:cNvPr id="8" name="Rectangle 7"/>
          <p:cNvSpPr/>
          <p:nvPr/>
        </p:nvSpPr>
        <p:spPr>
          <a:xfrm>
            <a:off x="9144000" y="4023360"/>
            <a:ext cx="2377440" cy="1645920"/>
          </a:xfrm>
          <a:prstGeom prst="rect">
            <a:avLst/>
          </a:prstGeom>
          <a:solidFill>
            <a:srgbClr val="141928"/>
          </a:solidFill>
          <a:ln w="19050">
            <a:solidFill>
              <a:srgbClr val="FF910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defRPr sz="1400" b="1">
                <a:solidFill>
                  <a:srgbClr val="FF9100"/>
                </a:solidFill>
                <a:latin typeface="Inter"/>
              </a:defRPr>
            </a:pPr>
            <a:r>
              <a:t>Incident Logs</a:t>
            </a:r>
          </a:p>
          <a:p>
            <a:pPr>
              <a:spcBef>
                <a:spcPts val="600"/>
              </a:spcBef>
              <a:defRPr sz="1100">
                <a:solidFill>
                  <a:srgbClr val="B4B9C3"/>
                </a:solidFill>
                <a:latin typeface="Roboto"/>
              </a:defRPr>
            </a:pPr>
            <a:r>
              <a:t>Unstructured notebooks &amp; logs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548640" y="365760"/>
            <a:ext cx="4572000" cy="365760"/>
          </a:xfrm>
          <a:prstGeom prst="rect">
            <a:avLst/>
          </a:prstGeom>
          <a:noFill/>
        </p:spPr>
        <p:txBody>
          <a:bodyPr wrap="square" lIns="0" rIns="0" tIns="0" bIns="0">
            <a:spAutoFit/>
          </a:bodyPr>
          <a:lstStyle/>
          <a:p>
            <a:pPr>
              <a:defRPr sz="1000" b="1">
                <a:solidFill>
                  <a:srgbClr val="FF9100"/>
                </a:solidFill>
                <a:latin typeface="Roboto"/>
              </a:defRPr>
            </a:pPr>
            <a:r>
              <a:t>SOLUTION OVERVIEW</a:t>
            </a:r>
          </a:p>
        </p:txBody>
      </p:sp>
      <p:sp>
        <p:nvSpPr>
          <p:cNvPr id="3" name="TextBox 2"/>
          <p:cNvSpPr txBox="1"/>
          <p:nvPr/>
        </p:nvSpPr>
        <p:spPr>
          <a:xfrm>
            <a:off x="548640" y="640080"/>
            <a:ext cx="10972800" cy="731520"/>
          </a:xfrm>
          <a:prstGeom prst="rect">
            <a:avLst/>
          </a:prstGeom>
          <a:noFill/>
        </p:spPr>
        <p:txBody>
          <a:bodyPr wrap="square" lIns="0" rIns="0" tIns="0" bIns="0">
            <a:spAutoFit/>
          </a:bodyPr>
          <a:lstStyle/>
          <a:p>
            <a:pPr>
              <a:defRPr sz="2800" b="1">
                <a:solidFill>
                  <a:srgbClr val="00E5FF"/>
                </a:solidFill>
                <a:latin typeface="Inter"/>
              </a:defRPr>
            </a:pPr>
            <a:r>
              <a:t>OpsBrain AI Architecture</a:t>
            </a:r>
          </a:p>
        </p:txBody>
      </p:sp>
      <p:sp>
        <p:nvSpPr>
          <p:cNvPr id="4" name="TextBox 3"/>
          <p:cNvSpPr txBox="1"/>
          <p:nvPr/>
        </p:nvSpPr>
        <p:spPr>
          <a:xfrm>
            <a:off x="548640" y="1645920"/>
            <a:ext cx="4572000" cy="4572000"/>
          </a:xfrm>
          <a:prstGeom prst="rect">
            <a:avLst/>
          </a:prstGeom>
          <a:noFill/>
        </p:spPr>
        <p:txBody>
          <a:bodyPr wrap="square">
            <a:spAutoFit/>
          </a:bodyPr>
          <a:lstStyle/>
          <a:p>
            <a:pPr>
              <a:defRPr sz="1600" b="1">
                <a:solidFill>
                  <a:srgbClr val="00E5FF"/>
                </a:solidFill>
                <a:latin typeface="Inter"/>
              </a:defRPr>
            </a:pPr>
            <a:r>
              <a:t>•  Physical Topology Mapping</a:t>
            </a:r>
          </a:p>
          <a:p>
            <a:pPr>
              <a:spcBef>
                <a:spcPts val="400"/>
              </a:spcBef>
              <a:defRPr sz="1300">
                <a:solidFill>
                  <a:srgbClr val="B4B9C3"/>
                </a:solidFill>
                <a:latin typeface="Roboto"/>
              </a:defRPr>
            </a:pPr>
            <a:r>
              <a:t>Extracts connection rules and node properties directly from Piping &amp; Instrumentation Diagrams (P&amp;IDs).</a:t>
            </a:r>
          </a:p>
          <a:p>
            <a:pPr>
              <a:spcBef>
                <a:spcPts val="1500"/>
              </a:spcBef>
              <a:defRPr sz="1600" b="1">
                <a:solidFill>
                  <a:srgbClr val="00E5FF"/>
                </a:solidFill>
                <a:latin typeface="Inter"/>
              </a:defRPr>
            </a:pPr>
            <a:r>
              <a:t>•  Local Vector Indexing</a:t>
            </a:r>
          </a:p>
          <a:p>
            <a:pPr>
              <a:spcBef>
                <a:spcPts val="400"/>
              </a:spcBef>
              <a:defRPr sz="1300">
                <a:solidFill>
                  <a:srgbClr val="B4B9C3"/>
                </a:solidFill>
                <a:latin typeface="Roboto"/>
              </a:defRPr>
            </a:pPr>
            <a:r>
              <a:t>Ingests environmental and safety SOPs locally on CPU using BGE embeddings for absolute data privacy.</a:t>
            </a:r>
          </a:p>
          <a:p>
            <a:pPr>
              <a:spcBef>
                <a:spcPts val="1500"/>
              </a:spcBef>
              <a:defRPr sz="1600" b="1">
                <a:solidFill>
                  <a:srgbClr val="00E5FF"/>
                </a:solidFill>
                <a:latin typeface="Inter"/>
              </a:defRPr>
            </a:pPr>
            <a:r>
              <a:t>•  Orchestration Engine</a:t>
            </a:r>
          </a:p>
          <a:p>
            <a:pPr>
              <a:spcBef>
                <a:spcPts val="400"/>
              </a:spcBef>
              <a:defRPr sz="1300">
                <a:solidFill>
                  <a:srgbClr val="B4B9C3"/>
                </a:solidFill>
                <a:latin typeface="Roboto"/>
              </a:defRPr>
            </a:pPr>
            <a:r>
              <a:t>Deploys a fleet of LLM agents to monitor risks and offer prototype compliance evidence support.</a:t>
            </a:r>
          </a:p>
        </p:txBody>
      </p:sp>
      <p:pic>
        <p:nvPicPr>
          <p:cNvPr id="5" name="Picture 4" descr="system_architecture.png"/>
          <p:cNvPicPr>
            <a:picLocks noChangeAspect="1"/>
          </p:cNvPicPr>
          <p:nvPr/>
        </p:nvPicPr>
        <p:blipFill>
          <a:blip r:embed="rId2"/>
          <a:stretch>
            <a:fillRect/>
          </a:stretch>
        </p:blipFill>
        <p:spPr>
          <a:xfrm>
            <a:off x="5486400" y="1645920"/>
            <a:ext cx="6217920" cy="43891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548640" y="365760"/>
            <a:ext cx="4572000" cy="365760"/>
          </a:xfrm>
          <a:prstGeom prst="rect">
            <a:avLst/>
          </a:prstGeom>
          <a:noFill/>
        </p:spPr>
        <p:txBody>
          <a:bodyPr wrap="square" lIns="0" rIns="0" tIns="0" bIns="0">
            <a:spAutoFit/>
          </a:bodyPr>
          <a:lstStyle/>
          <a:p>
            <a:pPr>
              <a:defRPr sz="1000" b="1">
                <a:solidFill>
                  <a:srgbClr val="FF9100"/>
                </a:solidFill>
                <a:latin typeface="Roboto"/>
              </a:defRPr>
            </a:pPr>
            <a:r>
              <a:t>TOPOLOGY EXTRACTION</a:t>
            </a:r>
          </a:p>
        </p:txBody>
      </p:sp>
      <p:sp>
        <p:nvSpPr>
          <p:cNvPr id="3" name="TextBox 2"/>
          <p:cNvSpPr txBox="1"/>
          <p:nvPr/>
        </p:nvSpPr>
        <p:spPr>
          <a:xfrm>
            <a:off x="548640" y="640080"/>
            <a:ext cx="10972800" cy="731520"/>
          </a:xfrm>
          <a:prstGeom prst="rect">
            <a:avLst/>
          </a:prstGeom>
          <a:noFill/>
        </p:spPr>
        <p:txBody>
          <a:bodyPr wrap="square" lIns="0" rIns="0" tIns="0" bIns="0">
            <a:spAutoFit/>
          </a:bodyPr>
          <a:lstStyle/>
          <a:p>
            <a:pPr>
              <a:defRPr sz="2800" b="1">
                <a:solidFill>
                  <a:srgbClr val="00E5FF"/>
                </a:solidFill>
                <a:latin typeface="Inter"/>
              </a:defRPr>
            </a:pPr>
            <a:r>
              <a:t>Knowledge Graph Digital Twin</a:t>
            </a:r>
          </a:p>
        </p:txBody>
      </p:sp>
      <p:sp>
        <p:nvSpPr>
          <p:cNvPr id="4" name="TextBox 3"/>
          <p:cNvSpPr txBox="1"/>
          <p:nvPr/>
        </p:nvSpPr>
        <p:spPr>
          <a:xfrm>
            <a:off x="548640" y="1645920"/>
            <a:ext cx="4572000" cy="4572000"/>
          </a:xfrm>
          <a:prstGeom prst="rect">
            <a:avLst/>
          </a:prstGeom>
          <a:noFill/>
        </p:spPr>
        <p:txBody>
          <a:bodyPr wrap="square">
            <a:spAutoFit/>
          </a:bodyPr>
          <a:lstStyle/>
          <a:p>
            <a:pPr>
              <a:defRPr sz="1600" b="1">
                <a:solidFill>
                  <a:srgbClr val="00E5FF"/>
                </a:solidFill>
                <a:latin typeface="Inter"/>
              </a:defRPr>
            </a:pPr>
            <a:r>
              <a:t>•  Gemini Vision Parser</a:t>
            </a:r>
          </a:p>
          <a:p>
            <a:pPr>
              <a:spcBef>
                <a:spcPts val="400"/>
              </a:spcBef>
              <a:defRPr sz="1300">
                <a:solidFill>
                  <a:srgbClr val="B4B9C3"/>
                </a:solidFill>
                <a:latin typeface="Roboto"/>
              </a:defRPr>
            </a:pPr>
            <a:r>
              <a:t>Vision model parses blueprint symbols, coordinates, flow directions, and equipment tags from drawings.</a:t>
            </a:r>
          </a:p>
          <a:p>
            <a:pPr>
              <a:spcBef>
                <a:spcPts val="1500"/>
              </a:spcBef>
              <a:defRPr sz="1600" b="1">
                <a:solidFill>
                  <a:srgbClr val="00E5FF"/>
                </a:solidFill>
                <a:latin typeface="Inter"/>
              </a:defRPr>
            </a:pPr>
            <a:r>
              <a:t>•  Relational Graph</a:t>
            </a:r>
          </a:p>
          <a:p>
            <a:pPr>
              <a:spcBef>
                <a:spcPts val="400"/>
              </a:spcBef>
              <a:defRPr sz="1300">
                <a:solidFill>
                  <a:srgbClr val="B4B9C3"/>
                </a:solidFill>
                <a:latin typeface="Roboto"/>
              </a:defRPr>
            </a:pPr>
            <a:r>
              <a:t>Renders equipment tags, flow lines, and sensor limits dynamically using ReactFlow.</a:t>
            </a:r>
          </a:p>
          <a:p>
            <a:pPr>
              <a:spcBef>
                <a:spcPts val="1500"/>
              </a:spcBef>
              <a:defRPr sz="1600" b="1">
                <a:solidFill>
                  <a:srgbClr val="00E5FF"/>
                </a:solidFill>
                <a:latin typeface="Inter"/>
              </a:defRPr>
            </a:pPr>
            <a:r>
              <a:t>•  Local Security</a:t>
            </a:r>
          </a:p>
          <a:p>
            <a:pPr>
              <a:spcBef>
                <a:spcPts val="400"/>
              </a:spcBef>
              <a:defRPr sz="1300">
                <a:solidFill>
                  <a:srgbClr val="B4B9C3"/>
                </a:solidFill>
                <a:latin typeface="Roboto"/>
              </a:defRPr>
            </a:pPr>
            <a:r>
              <a:t>Documents and asset links are stored on-premise, bypassing cloud risk vectors for heavy industries.</a:t>
            </a:r>
          </a:p>
        </p:txBody>
      </p:sp>
      <p:pic>
        <p:nvPicPr>
          <p:cNvPr id="5" name="Picture 4" descr="04_digital_twin_graph.png"/>
          <p:cNvPicPr>
            <a:picLocks noChangeAspect="1"/>
          </p:cNvPicPr>
          <p:nvPr/>
        </p:nvPicPr>
        <p:blipFill>
          <a:blip r:embed="rId2"/>
          <a:stretch>
            <a:fillRect/>
          </a:stretch>
        </p:blipFill>
        <p:spPr>
          <a:xfrm>
            <a:off x="5486400" y="1645920"/>
            <a:ext cx="6217920" cy="43891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548640" y="365760"/>
            <a:ext cx="4572000" cy="365760"/>
          </a:xfrm>
          <a:prstGeom prst="rect">
            <a:avLst/>
          </a:prstGeom>
          <a:noFill/>
        </p:spPr>
        <p:txBody>
          <a:bodyPr wrap="square" lIns="0" rIns="0" tIns="0" bIns="0">
            <a:spAutoFit/>
          </a:bodyPr>
          <a:lstStyle/>
          <a:p>
            <a:pPr>
              <a:defRPr sz="1000" b="1">
                <a:solidFill>
                  <a:srgbClr val="FF9100"/>
                </a:solidFill>
                <a:latin typeface="Roboto"/>
              </a:defRPr>
            </a:pPr>
            <a:r>
              <a:t>AI INFERENCE</a:t>
            </a:r>
          </a:p>
        </p:txBody>
      </p:sp>
      <p:sp>
        <p:nvSpPr>
          <p:cNvPr id="3" name="TextBox 2"/>
          <p:cNvSpPr txBox="1"/>
          <p:nvPr/>
        </p:nvSpPr>
        <p:spPr>
          <a:xfrm>
            <a:off x="548640" y="640080"/>
            <a:ext cx="10972800" cy="731520"/>
          </a:xfrm>
          <a:prstGeom prst="rect">
            <a:avLst/>
          </a:prstGeom>
          <a:noFill/>
        </p:spPr>
        <p:txBody>
          <a:bodyPr wrap="square" lIns="0" rIns="0" tIns="0" bIns="0">
            <a:spAutoFit/>
          </a:bodyPr>
          <a:lstStyle/>
          <a:p>
            <a:pPr>
              <a:defRPr sz="2800" b="1">
                <a:solidFill>
                  <a:srgbClr val="00E5FF"/>
                </a:solidFill>
                <a:latin typeface="Inter"/>
              </a:defRPr>
            </a:pPr>
            <a:r>
              <a:t>Specialized Multi-Agent Core</a:t>
            </a:r>
          </a:p>
        </p:txBody>
      </p:sp>
      <p:sp>
        <p:nvSpPr>
          <p:cNvPr id="4" name="TextBox 3"/>
          <p:cNvSpPr txBox="1"/>
          <p:nvPr/>
        </p:nvSpPr>
        <p:spPr>
          <a:xfrm>
            <a:off x="548640" y="1645920"/>
            <a:ext cx="4572000" cy="4572000"/>
          </a:xfrm>
          <a:prstGeom prst="rect">
            <a:avLst/>
          </a:prstGeom>
          <a:noFill/>
        </p:spPr>
        <p:txBody>
          <a:bodyPr wrap="square">
            <a:spAutoFit/>
          </a:bodyPr>
          <a:lstStyle/>
          <a:p>
            <a:pPr>
              <a:defRPr sz="1600" b="1">
                <a:solidFill>
                  <a:srgbClr val="00E5FF"/>
                </a:solidFill>
                <a:latin typeface="Inter"/>
              </a:defRPr>
            </a:pPr>
            <a:r>
              <a:t>•  Task-Focused Agents</a:t>
            </a:r>
          </a:p>
          <a:p>
            <a:pPr>
              <a:spcBef>
                <a:spcPts val="400"/>
              </a:spcBef>
              <a:defRPr sz="1300">
                <a:solidFill>
                  <a:srgbClr val="B4B9C3"/>
                </a:solidFill>
                <a:latin typeface="Roboto"/>
              </a:defRPr>
            </a:pPr>
            <a:r>
              <a:t>Five specialized agents (Root Cause, Risk, Compliance, Lessons, Copilot) handle targeted safety computations.</a:t>
            </a:r>
          </a:p>
          <a:p>
            <a:pPr>
              <a:spcBef>
                <a:spcPts val="1500"/>
              </a:spcBef>
              <a:defRPr sz="1600" b="1">
                <a:solidFill>
                  <a:srgbClr val="00E5FF"/>
                </a:solidFill>
                <a:latin typeface="Inter"/>
              </a:defRPr>
            </a:pPr>
            <a:r>
              <a:t>•  AI Traversal HUD</a:t>
            </a:r>
          </a:p>
          <a:p>
            <a:pPr>
              <a:spcBef>
                <a:spcPts val="400"/>
              </a:spcBef>
              <a:defRPr sz="1300">
                <a:solidFill>
                  <a:srgbClr val="B4B9C3"/>
                </a:solidFill>
                <a:latin typeface="Roboto"/>
              </a:defRPr>
            </a:pPr>
            <a:r>
              <a:t>Console overlay blocks screen during investigation to display detailed agent query and logic logs.</a:t>
            </a:r>
          </a:p>
          <a:p>
            <a:pPr>
              <a:spcBef>
                <a:spcPts val="1500"/>
              </a:spcBef>
              <a:defRPr sz="1600" b="1">
                <a:solidFill>
                  <a:srgbClr val="00E5FF"/>
                </a:solidFill>
                <a:latin typeface="Inter"/>
              </a:defRPr>
            </a:pPr>
            <a:r>
              <a:t>•  Dynamic Graph Pulse</a:t>
            </a:r>
          </a:p>
          <a:p>
            <a:pPr>
              <a:spcBef>
                <a:spcPts val="400"/>
              </a:spcBef>
              <a:defRPr sz="1300">
                <a:solidFill>
                  <a:srgbClr val="B4B9C3"/>
                </a:solidFill>
                <a:latin typeface="Roboto"/>
              </a:defRPr>
            </a:pPr>
            <a:r>
              <a:t>Pulsing warn highlights along traversed ReactFlow nodes track risk cascades on screen in real time.</a:t>
            </a:r>
          </a:p>
        </p:txBody>
      </p:sp>
      <p:pic>
        <p:nvPicPr>
          <p:cNvPr id="5" name="Picture 4" descr="06_rca_result.png"/>
          <p:cNvPicPr>
            <a:picLocks noChangeAspect="1"/>
          </p:cNvPicPr>
          <p:nvPr/>
        </p:nvPicPr>
        <p:blipFill>
          <a:blip r:embed="rId2"/>
          <a:stretch>
            <a:fillRect/>
          </a:stretch>
        </p:blipFill>
        <p:spPr>
          <a:xfrm>
            <a:off x="5486400" y="1645920"/>
            <a:ext cx="6217920" cy="43891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548640" y="365760"/>
            <a:ext cx="4572000" cy="365760"/>
          </a:xfrm>
          <a:prstGeom prst="rect">
            <a:avLst/>
          </a:prstGeom>
          <a:noFill/>
        </p:spPr>
        <p:txBody>
          <a:bodyPr wrap="square" lIns="0" rIns="0" tIns="0" bIns="0">
            <a:spAutoFit/>
          </a:bodyPr>
          <a:lstStyle/>
          <a:p>
            <a:pPr>
              <a:defRPr sz="1000" b="1">
                <a:solidFill>
                  <a:srgbClr val="FF9100"/>
                </a:solidFill>
                <a:latin typeface="Roboto"/>
              </a:defRPr>
            </a:pPr>
            <a:r>
              <a:t>OPERATOR Q&amp;A</a:t>
            </a:r>
          </a:p>
        </p:txBody>
      </p:sp>
      <p:sp>
        <p:nvSpPr>
          <p:cNvPr id="3" name="TextBox 2"/>
          <p:cNvSpPr txBox="1"/>
          <p:nvPr/>
        </p:nvSpPr>
        <p:spPr>
          <a:xfrm>
            <a:off x="548640" y="640080"/>
            <a:ext cx="10972800" cy="731520"/>
          </a:xfrm>
          <a:prstGeom prst="rect">
            <a:avLst/>
          </a:prstGeom>
          <a:noFill/>
        </p:spPr>
        <p:txBody>
          <a:bodyPr wrap="square" lIns="0" rIns="0" tIns="0" bIns="0">
            <a:spAutoFit/>
          </a:bodyPr>
          <a:lstStyle/>
          <a:p>
            <a:pPr>
              <a:defRPr sz="2800" b="1">
                <a:solidFill>
                  <a:srgbClr val="00E5FF"/>
                </a:solidFill>
                <a:latin typeface="Inter"/>
              </a:defRPr>
            </a:pPr>
            <a:r>
              <a:t>Knowledge Copilot &amp; Graph RAG</a:t>
            </a:r>
          </a:p>
        </p:txBody>
      </p:sp>
      <p:sp>
        <p:nvSpPr>
          <p:cNvPr id="4" name="TextBox 3"/>
          <p:cNvSpPr txBox="1"/>
          <p:nvPr/>
        </p:nvSpPr>
        <p:spPr>
          <a:xfrm>
            <a:off x="548640" y="1645920"/>
            <a:ext cx="4572000" cy="4572000"/>
          </a:xfrm>
          <a:prstGeom prst="rect">
            <a:avLst/>
          </a:prstGeom>
          <a:noFill/>
        </p:spPr>
        <p:txBody>
          <a:bodyPr wrap="square">
            <a:spAutoFit/>
          </a:bodyPr>
          <a:lstStyle/>
          <a:p>
            <a:pPr>
              <a:defRPr sz="1600" b="1">
                <a:solidFill>
                  <a:srgbClr val="00E5FF"/>
                </a:solidFill>
                <a:latin typeface="Inter"/>
              </a:defRPr>
            </a:pPr>
            <a:r>
              <a:t>•  Graph-Aware Evidence Path</a:t>
            </a:r>
          </a:p>
          <a:p>
            <a:pPr>
              <a:spcBef>
                <a:spcPts val="400"/>
              </a:spcBef>
              <a:defRPr sz="1300">
                <a:solidFill>
                  <a:srgbClr val="B4B9C3"/>
                </a:solidFill>
                <a:latin typeface="Roboto"/>
              </a:defRPr>
            </a:pPr>
            <a:r>
              <a:t>Maps queries onto physical connections, providing logical evidence paths across nodes.</a:t>
            </a:r>
          </a:p>
          <a:p>
            <a:pPr>
              <a:spcBef>
                <a:spcPts val="1500"/>
              </a:spcBef>
              <a:defRPr sz="1600" b="1">
                <a:solidFill>
                  <a:srgbClr val="00E5FF"/>
                </a:solidFill>
                <a:latin typeface="Inter"/>
              </a:defRPr>
            </a:pPr>
            <a:r>
              <a:t>•  Trust &amp; Verifiability</a:t>
            </a:r>
          </a:p>
          <a:p>
            <a:pPr>
              <a:spcBef>
                <a:spcPts val="400"/>
              </a:spcBef>
              <a:defRPr sz="1300">
                <a:solidFill>
                  <a:srgbClr val="B4B9C3"/>
                </a:solidFill>
                <a:latin typeface="Roboto"/>
              </a:defRPr>
            </a:pPr>
            <a:r>
              <a:t>Returns direct SOP references, confidence percentages, and source document links.</a:t>
            </a:r>
          </a:p>
          <a:p>
            <a:pPr>
              <a:spcBef>
                <a:spcPts val="1500"/>
              </a:spcBef>
              <a:defRPr sz="1600" b="1">
                <a:solidFill>
                  <a:srgbClr val="00E5FF"/>
                </a:solidFill>
                <a:latin typeface="Inter"/>
              </a:defRPr>
            </a:pPr>
            <a:r>
              <a:t>•  Tribal Notes Panel</a:t>
            </a:r>
          </a:p>
          <a:p>
            <a:pPr>
              <a:spcBef>
                <a:spcPts val="400"/>
              </a:spcBef>
              <a:defRPr sz="1300">
                <a:solidFill>
                  <a:srgbClr val="B4B9C3"/>
                </a:solidFill>
                <a:latin typeface="Roboto"/>
              </a:defRPr>
            </a:pPr>
            <a:r>
              <a:t>Enables operators to type local notes on the twin, which are instantly indexed in the local vector store.</a:t>
            </a:r>
          </a:p>
        </p:txBody>
      </p:sp>
      <p:pic>
        <p:nvPicPr>
          <p:cNvPr id="5" name="Picture 4" descr="05_knowledge_copilot.png"/>
          <p:cNvPicPr>
            <a:picLocks noChangeAspect="1"/>
          </p:cNvPicPr>
          <p:nvPr/>
        </p:nvPicPr>
        <p:blipFill>
          <a:blip r:embed="rId2"/>
          <a:stretch>
            <a:fillRect/>
          </a:stretch>
        </p:blipFill>
        <p:spPr>
          <a:xfrm>
            <a:off x="5486400" y="1645920"/>
            <a:ext cx="6217920" cy="43891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548640" y="365760"/>
            <a:ext cx="4572000" cy="365760"/>
          </a:xfrm>
          <a:prstGeom prst="rect">
            <a:avLst/>
          </a:prstGeom>
          <a:noFill/>
        </p:spPr>
        <p:txBody>
          <a:bodyPr wrap="square" lIns="0" rIns="0" tIns="0" bIns="0">
            <a:spAutoFit/>
          </a:bodyPr>
          <a:lstStyle/>
          <a:p>
            <a:pPr>
              <a:defRPr sz="1000" b="1">
                <a:solidFill>
                  <a:srgbClr val="FF9100"/>
                </a:solidFill>
                <a:latin typeface="Roboto"/>
              </a:defRPr>
            </a:pPr>
            <a:r>
              <a:t>RESILIENCE &amp; SECURITY</a:t>
            </a:r>
          </a:p>
        </p:txBody>
      </p:sp>
      <p:sp>
        <p:nvSpPr>
          <p:cNvPr id="3" name="TextBox 2"/>
          <p:cNvSpPr txBox="1"/>
          <p:nvPr/>
        </p:nvSpPr>
        <p:spPr>
          <a:xfrm>
            <a:off x="548640" y="640080"/>
            <a:ext cx="10972800" cy="731520"/>
          </a:xfrm>
          <a:prstGeom prst="rect">
            <a:avLst/>
          </a:prstGeom>
          <a:noFill/>
        </p:spPr>
        <p:txBody>
          <a:bodyPr wrap="square" lIns="0" rIns="0" tIns="0" bIns="0">
            <a:spAutoFit/>
          </a:bodyPr>
          <a:lstStyle/>
          <a:p>
            <a:pPr>
              <a:defRPr sz="2800" b="1">
                <a:solidFill>
                  <a:srgbClr val="00E5FF"/>
                </a:solidFill>
                <a:latin typeface="Inter"/>
              </a:defRPr>
            </a:pPr>
            <a:r>
              <a:t>Provider Fallback &amp; Runtime Monitor</a:t>
            </a:r>
          </a:p>
        </p:txBody>
      </p:sp>
      <p:sp>
        <p:nvSpPr>
          <p:cNvPr id="4" name="TextBox 3"/>
          <p:cNvSpPr txBox="1"/>
          <p:nvPr/>
        </p:nvSpPr>
        <p:spPr>
          <a:xfrm>
            <a:off x="548640" y="1645920"/>
            <a:ext cx="4572000" cy="4572000"/>
          </a:xfrm>
          <a:prstGeom prst="rect">
            <a:avLst/>
          </a:prstGeom>
          <a:noFill/>
        </p:spPr>
        <p:txBody>
          <a:bodyPr wrap="square">
            <a:spAutoFit/>
          </a:bodyPr>
          <a:lstStyle/>
          <a:p>
            <a:pPr>
              <a:defRPr sz="1600" b="1">
                <a:solidFill>
                  <a:srgbClr val="00E5FF"/>
                </a:solidFill>
                <a:latin typeface="Inter"/>
              </a:defRPr>
            </a:pPr>
            <a:r>
              <a:t>•  Circuit-Breaker Logic</a:t>
            </a:r>
          </a:p>
          <a:p>
            <a:pPr>
              <a:spcBef>
                <a:spcPts val="400"/>
              </a:spcBef>
              <a:defRPr sz="1300">
                <a:solidFill>
                  <a:srgbClr val="B4B9C3"/>
                </a:solidFill>
                <a:latin typeface="Roboto"/>
              </a:defRPr>
            </a:pPr>
            <a:r>
              <a:t>Swaps completions (Groq -&gt; Mistral -&gt; Gemini) dynamically to ensure high availability.</a:t>
            </a:r>
          </a:p>
          <a:p>
            <a:pPr>
              <a:spcBef>
                <a:spcPts val="1500"/>
              </a:spcBef>
              <a:defRPr sz="1600" b="1">
                <a:solidFill>
                  <a:srgbClr val="00E5FF"/>
                </a:solidFill>
                <a:latin typeface="Inter"/>
              </a:defRPr>
            </a:pPr>
            <a:r>
              <a:t>•  Offline Demo Cache</a:t>
            </a:r>
          </a:p>
          <a:p>
            <a:pPr>
              <a:spcBef>
                <a:spcPts val="400"/>
              </a:spcBef>
              <a:defRPr sz="1300">
                <a:solidFill>
                  <a:srgbClr val="B4B9C3"/>
                </a:solidFill>
                <a:latin typeface="Roboto"/>
              </a:defRPr>
            </a:pPr>
            <a:r>
              <a:t>Falls back to pre-compiled local safety logs if external API endpoints rate-limit or fail.</a:t>
            </a:r>
          </a:p>
          <a:p>
            <a:pPr>
              <a:spcBef>
                <a:spcPts val="1500"/>
              </a:spcBef>
              <a:defRPr sz="1600" b="1">
                <a:solidFill>
                  <a:srgbClr val="00E5FF"/>
                </a:solidFill>
                <a:latin typeface="Inter"/>
              </a:defRPr>
            </a:pPr>
            <a:r>
              <a:t>•  Runtime Dashboard Monitor</a:t>
            </a:r>
          </a:p>
          <a:p>
            <a:pPr>
              <a:spcBef>
                <a:spcPts val="400"/>
              </a:spcBef>
              <a:defRPr sz="1300">
                <a:solidFill>
                  <a:srgbClr val="B4B9C3"/>
                </a:solidFill>
                <a:latin typeface="Roboto"/>
              </a:defRPr>
            </a:pPr>
            <a:r>
              <a:t>Audits latency logs, token cache hits, fallback events, and active breaker stats.</a:t>
            </a:r>
          </a:p>
        </p:txBody>
      </p:sp>
      <p:pic>
        <p:nvPicPr>
          <p:cNvPr id="5" name="Picture 4" descr="10_ai_runtime_monitor.png"/>
          <p:cNvPicPr>
            <a:picLocks noChangeAspect="1"/>
          </p:cNvPicPr>
          <p:nvPr/>
        </p:nvPicPr>
        <p:blipFill>
          <a:blip r:embed="rId2"/>
          <a:stretch>
            <a:fillRect/>
          </a:stretch>
        </p:blipFill>
        <p:spPr>
          <a:xfrm>
            <a:off x="5486400" y="1645920"/>
            <a:ext cx="6217920" cy="43891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548640" y="365760"/>
            <a:ext cx="4572000" cy="365760"/>
          </a:xfrm>
          <a:prstGeom prst="rect">
            <a:avLst/>
          </a:prstGeom>
          <a:noFill/>
        </p:spPr>
        <p:txBody>
          <a:bodyPr wrap="square" lIns="0" rIns="0" tIns="0" bIns="0">
            <a:spAutoFit/>
          </a:bodyPr>
          <a:lstStyle/>
          <a:p>
            <a:pPr>
              <a:defRPr sz="1000" b="1">
                <a:solidFill>
                  <a:srgbClr val="FF9100"/>
                </a:solidFill>
                <a:latin typeface="Roboto"/>
              </a:defRPr>
            </a:pPr>
            <a:r>
              <a:t>PORTABILITY PROOF</a:t>
            </a:r>
          </a:p>
        </p:txBody>
      </p:sp>
      <p:sp>
        <p:nvSpPr>
          <p:cNvPr id="3" name="TextBox 2"/>
          <p:cNvSpPr txBox="1"/>
          <p:nvPr/>
        </p:nvSpPr>
        <p:spPr>
          <a:xfrm>
            <a:off x="548640" y="640080"/>
            <a:ext cx="10972800" cy="731520"/>
          </a:xfrm>
          <a:prstGeom prst="rect">
            <a:avLst/>
          </a:prstGeom>
          <a:noFill/>
        </p:spPr>
        <p:txBody>
          <a:bodyPr wrap="square" lIns="0" rIns="0" tIns="0" bIns="0">
            <a:spAutoFit/>
          </a:bodyPr>
          <a:lstStyle/>
          <a:p>
            <a:pPr>
              <a:defRPr sz="2800" b="1">
                <a:solidFill>
                  <a:srgbClr val="00E5FF"/>
                </a:solidFill>
                <a:latin typeface="Inter"/>
              </a:defRPr>
            </a:pPr>
            <a:r>
              <a:t>Refinery Pump Station Scalability Demo</a:t>
            </a:r>
          </a:p>
        </p:txBody>
      </p:sp>
      <p:sp>
        <p:nvSpPr>
          <p:cNvPr id="4" name="TextBox 3"/>
          <p:cNvSpPr txBox="1"/>
          <p:nvPr/>
        </p:nvSpPr>
        <p:spPr>
          <a:xfrm>
            <a:off x="548640" y="1645920"/>
            <a:ext cx="4572000" cy="4572000"/>
          </a:xfrm>
          <a:prstGeom prst="rect">
            <a:avLst/>
          </a:prstGeom>
          <a:noFill/>
        </p:spPr>
        <p:txBody>
          <a:bodyPr wrap="square">
            <a:spAutoFit/>
          </a:bodyPr>
          <a:lstStyle/>
          <a:p>
            <a:pPr>
              <a:defRPr sz="1600" b="1">
                <a:solidFill>
                  <a:srgbClr val="FF9100"/>
                </a:solidFill>
                <a:latin typeface="Inter"/>
              </a:defRPr>
            </a:pPr>
            <a:r>
              <a:t>•  Shared Schema Engine</a:t>
            </a:r>
          </a:p>
          <a:p>
            <a:pPr>
              <a:spcBef>
                <a:spcPts val="400"/>
              </a:spcBef>
              <a:defRPr sz="1300">
                <a:solidFill>
                  <a:srgbClr val="B4B9C3"/>
                </a:solidFill>
                <a:latin typeface="Roboto"/>
              </a:defRPr>
            </a:pPr>
            <a:r>
              <a:t>Demonstrates generalizability by swapping dataset from Vizag to Refinery Pump Station.</a:t>
            </a:r>
          </a:p>
          <a:p>
            <a:pPr>
              <a:spcBef>
                <a:spcPts val="1500"/>
              </a:spcBef>
              <a:defRPr sz="1600" b="1">
                <a:solidFill>
                  <a:srgbClr val="FF9100"/>
                </a:solidFill>
                <a:latin typeface="Inter"/>
              </a:defRPr>
            </a:pPr>
            <a:r>
              <a:t>•  No Pipeline Modifications</a:t>
            </a:r>
          </a:p>
          <a:p>
            <a:pPr>
              <a:spcBef>
                <a:spcPts val="400"/>
              </a:spcBef>
              <a:defRPr sz="1300">
                <a:solidFill>
                  <a:srgbClr val="B4B9C3"/>
                </a:solidFill>
                <a:latin typeface="Roboto"/>
              </a:defRPr>
            </a:pPr>
            <a:r>
              <a:t>Uses the exact same database models, RAG embeddings, and multi-agent routing.</a:t>
            </a:r>
          </a:p>
          <a:p>
            <a:pPr>
              <a:spcBef>
                <a:spcPts val="1500"/>
              </a:spcBef>
              <a:defRPr sz="1600" b="1">
                <a:solidFill>
                  <a:srgbClr val="FF9100"/>
                </a:solidFill>
                <a:latin typeface="Inter"/>
              </a:defRPr>
            </a:pPr>
            <a:r>
              <a:t>•  Optional Sidebar Trigger</a:t>
            </a:r>
          </a:p>
          <a:p>
            <a:pPr>
              <a:spcBef>
                <a:spcPts val="400"/>
              </a:spcBef>
              <a:defRPr sz="1300">
                <a:solidFill>
                  <a:srgbClr val="B4B9C3"/>
                </a:solidFill>
                <a:latin typeface="Roboto"/>
              </a:defRPr>
            </a:pPr>
            <a:r>
              <a:t>An amber seeding button allows instant database reset and Refinery node population.</a:t>
            </a:r>
          </a:p>
        </p:txBody>
      </p:sp>
      <p:pic>
        <p:nvPicPr>
          <p:cNvPr id="5" name="Picture 4" descr="12_refinery_seeded.png"/>
          <p:cNvPicPr>
            <a:picLocks noChangeAspect="1"/>
          </p:cNvPicPr>
          <p:nvPr/>
        </p:nvPicPr>
        <p:blipFill>
          <a:blip r:embed="rId2"/>
          <a:stretch>
            <a:fillRect/>
          </a:stretch>
        </p:blipFill>
        <p:spPr>
          <a:xfrm>
            <a:off x="5486400" y="1645920"/>
            <a:ext cx="6217920" cy="43891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548640" y="365760"/>
            <a:ext cx="4572000" cy="365760"/>
          </a:xfrm>
          <a:prstGeom prst="rect">
            <a:avLst/>
          </a:prstGeom>
          <a:noFill/>
        </p:spPr>
        <p:txBody>
          <a:bodyPr wrap="square" lIns="0" rIns="0" tIns="0" bIns="0">
            <a:spAutoFit/>
          </a:bodyPr>
          <a:lstStyle/>
          <a:p>
            <a:pPr>
              <a:defRPr sz="1000" b="1">
                <a:solidFill>
                  <a:srgbClr val="FF9100"/>
                </a:solidFill>
                <a:latin typeface="Roboto"/>
              </a:defRPr>
            </a:pPr>
            <a:r>
              <a:t>ACCURACY SCORECARD</a:t>
            </a:r>
          </a:p>
        </p:txBody>
      </p:sp>
      <p:sp>
        <p:nvSpPr>
          <p:cNvPr id="3" name="TextBox 2"/>
          <p:cNvSpPr txBox="1"/>
          <p:nvPr/>
        </p:nvSpPr>
        <p:spPr>
          <a:xfrm>
            <a:off x="548640" y="640080"/>
            <a:ext cx="10972800" cy="731520"/>
          </a:xfrm>
          <a:prstGeom prst="rect">
            <a:avLst/>
          </a:prstGeom>
          <a:noFill/>
        </p:spPr>
        <p:txBody>
          <a:bodyPr wrap="square" lIns="0" rIns="0" tIns="0" bIns="0">
            <a:spAutoFit/>
          </a:bodyPr>
          <a:lstStyle/>
          <a:p>
            <a:pPr>
              <a:defRPr sz="2800" b="1">
                <a:solidFill>
                  <a:srgbClr val="00E5FF"/>
                </a:solidFill>
                <a:latin typeface="Inter"/>
              </a:defRPr>
            </a:pPr>
            <a:r>
              <a:t>Performance Scorecard &amp; Benchmarks</a:t>
            </a:r>
          </a:p>
        </p:txBody>
      </p:sp>
      <p:sp>
        <p:nvSpPr>
          <p:cNvPr id="4" name="TextBox 3"/>
          <p:cNvSpPr txBox="1"/>
          <p:nvPr/>
        </p:nvSpPr>
        <p:spPr>
          <a:xfrm>
            <a:off x="548640" y="1645920"/>
            <a:ext cx="4572000" cy="4572000"/>
          </a:xfrm>
          <a:prstGeom prst="rect">
            <a:avLst/>
          </a:prstGeom>
          <a:noFill/>
        </p:spPr>
        <p:txBody>
          <a:bodyPr wrap="square">
            <a:spAutoFit/>
          </a:bodyPr>
          <a:lstStyle/>
          <a:p>
            <a:pPr>
              <a:defRPr sz="1600" b="1">
                <a:solidFill>
                  <a:srgbClr val="00E5FF"/>
                </a:solidFill>
                <a:latin typeface="Inter"/>
              </a:defRPr>
            </a:pPr>
            <a:r>
              <a:t>•  Seeded Validation Baseline</a:t>
            </a:r>
          </a:p>
          <a:p>
            <a:pPr>
              <a:spcBef>
                <a:spcPts val="400"/>
              </a:spcBef>
              <a:defRPr sz="1300">
                <a:solidFill>
                  <a:srgbClr val="B4B9C3"/>
                </a:solidFill>
                <a:latin typeface="Roboto"/>
              </a:defRPr>
            </a:pPr>
            <a:r>
              <a:t>Performance metrics calculated directly against pre-seeded Vizag Coke Oven validation data.</a:t>
            </a:r>
          </a:p>
          <a:p>
            <a:pPr>
              <a:spcBef>
                <a:spcPts val="1500"/>
              </a:spcBef>
              <a:defRPr sz="1600" b="1">
                <a:solidFill>
                  <a:srgbClr val="00E5FF"/>
                </a:solidFill>
                <a:latin typeface="Inter"/>
              </a:defRPr>
            </a:pPr>
            <a:r>
              <a:t>•  Diagnostic Latency Speedup</a:t>
            </a:r>
          </a:p>
          <a:p>
            <a:pPr>
              <a:spcBef>
                <a:spcPts val="400"/>
              </a:spcBef>
              <a:defRPr sz="1300">
                <a:solidFill>
                  <a:srgbClr val="B4B9C3"/>
                </a:solidFill>
                <a:latin typeface="Roboto"/>
              </a:defRPr>
            </a:pPr>
            <a:r>
              <a:t>Reduces safety manual search latencies from 35 minutes to 1.8 seconds (demo benchmark).</a:t>
            </a:r>
          </a:p>
          <a:p>
            <a:pPr>
              <a:spcBef>
                <a:spcPts val="1500"/>
              </a:spcBef>
              <a:defRPr sz="1600" b="1">
                <a:solidFill>
                  <a:srgbClr val="00E5FF"/>
                </a:solidFill>
                <a:latin typeface="Inter"/>
              </a:defRPr>
            </a:pPr>
            <a:r>
              <a:t>•  High Extraction Accuracy</a:t>
            </a:r>
          </a:p>
          <a:p>
            <a:pPr>
              <a:spcBef>
                <a:spcPts val="400"/>
              </a:spcBef>
              <a:defRPr sz="1300">
                <a:solidFill>
                  <a:srgbClr val="B4B9C3"/>
                </a:solidFill>
                <a:latin typeface="Roboto"/>
              </a:defRPr>
            </a:pPr>
            <a:r>
              <a:t>Achieves 97.8% entity parsing accuracy on blueprints and 100% compliance hazard detection.</a:t>
            </a:r>
          </a:p>
        </p:txBody>
      </p:sp>
      <p:pic>
        <p:nvPicPr>
          <p:cNvPr id="5" name="Picture 4" descr="11_evaluation_benchmarks.png"/>
          <p:cNvPicPr>
            <a:picLocks noChangeAspect="1"/>
          </p:cNvPicPr>
          <p:nvPr/>
        </p:nvPicPr>
        <p:blipFill>
          <a:blip r:embed="rId2"/>
          <a:stretch>
            <a:fillRect/>
          </a:stretch>
        </p:blipFill>
        <p:spPr>
          <a:xfrm>
            <a:off x="5486400" y="1645920"/>
            <a:ext cx="6217920" cy="438912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548640" y="365760"/>
            <a:ext cx="4572000" cy="365760"/>
          </a:xfrm>
          <a:prstGeom prst="rect">
            <a:avLst/>
          </a:prstGeom>
          <a:noFill/>
        </p:spPr>
        <p:txBody>
          <a:bodyPr wrap="square" lIns="0" rIns="0" tIns="0" bIns="0">
            <a:spAutoFit/>
          </a:bodyPr>
          <a:lstStyle/>
          <a:p>
            <a:pPr>
              <a:defRPr sz="1000" b="1">
                <a:solidFill>
                  <a:srgbClr val="FF9100"/>
                </a:solidFill>
                <a:latin typeface="Roboto"/>
              </a:defRPr>
            </a:pPr>
            <a:r>
              <a:t>ROADMAP</a:t>
            </a:r>
          </a:p>
        </p:txBody>
      </p:sp>
      <p:sp>
        <p:nvSpPr>
          <p:cNvPr id="3" name="TextBox 2"/>
          <p:cNvSpPr txBox="1"/>
          <p:nvPr/>
        </p:nvSpPr>
        <p:spPr>
          <a:xfrm>
            <a:off x="548640" y="640080"/>
            <a:ext cx="10972800" cy="731520"/>
          </a:xfrm>
          <a:prstGeom prst="rect">
            <a:avLst/>
          </a:prstGeom>
          <a:noFill/>
        </p:spPr>
        <p:txBody>
          <a:bodyPr wrap="square" lIns="0" rIns="0" tIns="0" bIns="0">
            <a:spAutoFit/>
          </a:bodyPr>
          <a:lstStyle/>
          <a:p>
            <a:pPr>
              <a:defRPr sz="2800" b="1">
                <a:solidFill>
                  <a:srgbClr val="00E5FF"/>
                </a:solidFill>
                <a:latin typeface="Inter"/>
              </a:defRPr>
            </a:pPr>
            <a:r>
              <a:t>Business Impact &amp; Future Vision</a:t>
            </a:r>
          </a:p>
        </p:txBody>
      </p:sp>
      <p:sp>
        <p:nvSpPr>
          <p:cNvPr id="4" name="TextBox 3"/>
          <p:cNvSpPr txBox="1"/>
          <p:nvPr/>
        </p:nvSpPr>
        <p:spPr>
          <a:xfrm>
            <a:off x="548640" y="1645920"/>
            <a:ext cx="5486400" cy="4572000"/>
          </a:xfrm>
          <a:prstGeom prst="rect">
            <a:avLst/>
          </a:prstGeom>
          <a:noFill/>
        </p:spPr>
        <p:txBody>
          <a:bodyPr wrap="square">
            <a:spAutoFit/>
          </a:bodyPr>
          <a:lstStyle/>
          <a:p>
            <a:pPr>
              <a:spcAft>
                <a:spcPts val="1500"/>
              </a:spcAft>
              <a:defRPr sz="1800" b="1">
                <a:solidFill>
                  <a:srgbClr val="FFFFFF"/>
                </a:solidFill>
                <a:latin typeface="Inter"/>
              </a:defRPr>
            </a:pPr>
            <a:r>
              <a:t>Business Impact (Prototype Estimations):</a:t>
            </a:r>
          </a:p>
          <a:p>
            <a:pPr>
              <a:spcBef>
                <a:spcPts val="800"/>
              </a:spcBef>
              <a:defRPr sz="1500" b="1">
                <a:solidFill>
                  <a:srgbClr val="00E5FF"/>
                </a:solidFill>
                <a:latin typeface="Inter"/>
              </a:defRPr>
            </a:pPr>
            <a:r>
              <a:t>✔  35% Reduction in Safety Search Time</a:t>
            </a:r>
          </a:p>
          <a:p>
            <a:pPr>
              <a:spcBef>
                <a:spcPts val="200"/>
              </a:spcBef>
              <a:defRPr sz="1200">
                <a:solidFill>
                  <a:srgbClr val="B4B9C3"/>
                </a:solidFill>
                <a:latin typeface="Roboto"/>
              </a:defRPr>
            </a:pPr>
            <a:r>
              <a:t>Eliminates time spent manually referencing paper manuals and blueprint sheets.</a:t>
            </a:r>
          </a:p>
          <a:p>
            <a:pPr>
              <a:spcBef>
                <a:spcPts val="800"/>
              </a:spcBef>
              <a:defRPr sz="1500" b="1">
                <a:solidFill>
                  <a:srgbClr val="00E5FF"/>
                </a:solidFill>
                <a:latin typeface="Inter"/>
              </a:defRPr>
            </a:pPr>
            <a:r>
              <a:t>✔  18-22% Reduction in Unplanned Outages</a:t>
            </a:r>
          </a:p>
          <a:p>
            <a:pPr>
              <a:spcBef>
                <a:spcPts val="200"/>
              </a:spcBef>
              <a:defRPr sz="1200">
                <a:solidFill>
                  <a:srgbClr val="B4B9C3"/>
                </a:solidFill>
                <a:latin typeface="Roboto"/>
              </a:defRPr>
            </a:pPr>
            <a:r>
              <a:t>Maps risk propagation across physical pipelines, preventing failure cascades.</a:t>
            </a:r>
          </a:p>
          <a:p>
            <a:pPr>
              <a:spcBef>
                <a:spcPts val="800"/>
              </a:spcBef>
              <a:defRPr sz="1500" b="1">
                <a:solidFill>
                  <a:srgbClr val="00E5FF"/>
                </a:solidFill>
                <a:latin typeface="Inter"/>
              </a:defRPr>
            </a:pPr>
            <a:r>
              <a:t>✔  Preemptive Lead Time (&lt;10s)</a:t>
            </a:r>
          </a:p>
          <a:p>
            <a:pPr>
              <a:spcBef>
                <a:spcPts val="200"/>
              </a:spcBef>
              <a:defRPr sz="1200">
                <a:solidFill>
                  <a:srgbClr val="B4B9C3"/>
                </a:solidFill>
                <a:latin typeface="Roboto"/>
              </a:defRPr>
            </a:pPr>
            <a:r>
              <a:t>Calculates asset risk and alerts compliance inspectors in seconds.</a:t>
            </a:r>
          </a:p>
        </p:txBody>
      </p:sp>
      <p:sp>
        <p:nvSpPr>
          <p:cNvPr id="5" name="TextBox 4"/>
          <p:cNvSpPr txBox="1"/>
          <p:nvPr/>
        </p:nvSpPr>
        <p:spPr>
          <a:xfrm>
            <a:off x="6583680" y="1645920"/>
            <a:ext cx="5029200" cy="4572000"/>
          </a:xfrm>
          <a:prstGeom prst="rect">
            <a:avLst/>
          </a:prstGeom>
          <a:noFill/>
        </p:spPr>
        <p:txBody>
          <a:bodyPr wrap="square">
            <a:spAutoFit/>
          </a:bodyPr>
          <a:lstStyle/>
          <a:p>
            <a:pPr>
              <a:spcAft>
                <a:spcPts val="1500"/>
              </a:spcAft>
              <a:defRPr sz="1800" b="1">
                <a:solidFill>
                  <a:srgbClr val="FF9100"/>
                </a:solidFill>
                <a:latin typeface="Inter"/>
              </a:defRPr>
            </a:pPr>
            <a:r>
              <a:t>Future Scope &amp; Industrial Roadmap:</a:t>
            </a:r>
          </a:p>
          <a:p>
            <a:pPr>
              <a:spcBef>
                <a:spcPts val="800"/>
              </a:spcBef>
              <a:defRPr sz="1500" b="1">
                <a:solidFill>
                  <a:srgbClr val="FF9100"/>
                </a:solidFill>
                <a:latin typeface="Inter"/>
              </a:defRPr>
            </a:pPr>
            <a:r>
              <a:t>➔  Streaming Edge Telemetry</a:t>
            </a:r>
          </a:p>
          <a:p>
            <a:pPr>
              <a:spcBef>
                <a:spcPts val="200"/>
              </a:spcBef>
              <a:defRPr sz="1200">
                <a:solidFill>
                  <a:srgbClr val="B4B9C3"/>
                </a:solidFill>
                <a:latin typeface="Roboto"/>
              </a:defRPr>
            </a:pPr>
            <a:r>
              <a:t>Integrating MQTT/Kafka queues to update graph nodes directly from live SCADA sensor feeds.</a:t>
            </a:r>
          </a:p>
          <a:p>
            <a:pPr>
              <a:spcBef>
                <a:spcPts val="800"/>
              </a:spcBef>
              <a:defRPr sz="1500" b="1">
                <a:solidFill>
                  <a:srgbClr val="FF9100"/>
                </a:solidFill>
                <a:latin typeface="Inter"/>
              </a:defRPr>
            </a:pPr>
            <a:r>
              <a:t>➔  Fully Offline Deployments</a:t>
            </a:r>
          </a:p>
          <a:p>
            <a:pPr>
              <a:spcBef>
                <a:spcPts val="200"/>
              </a:spcBef>
              <a:defRPr sz="1200">
                <a:solidFill>
                  <a:srgbClr val="B4B9C3"/>
                </a:solidFill>
                <a:latin typeface="Roboto"/>
              </a:defRPr>
            </a:pPr>
            <a:r>
              <a:t>Running local LLMs (e.g. Llama-3-8B via Ollama) on on-premise hardware to ensure plant data privacy.</a:t>
            </a:r>
          </a:p>
          <a:p>
            <a:pPr>
              <a:spcBef>
                <a:spcPts val="800"/>
              </a:spcBef>
              <a:defRPr sz="1500" b="1">
                <a:solidFill>
                  <a:srgbClr val="FF9100"/>
                </a:solidFill>
                <a:latin typeface="Inter"/>
              </a:defRPr>
            </a:pPr>
            <a:r>
              <a:t>➔  Emergency Path Isolation</a:t>
            </a:r>
          </a:p>
          <a:p>
            <a:pPr>
              <a:spcBef>
                <a:spcPts val="200"/>
              </a:spcBef>
              <a:defRPr sz="1200">
                <a:solidFill>
                  <a:srgbClr val="B4B9C3"/>
                </a:solidFill>
                <a:latin typeface="Roboto"/>
              </a:defRPr>
            </a:pPr>
            <a:r>
              <a:t>Automatically generating isolation valve sequence checklists during high-risk pressure incidents.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